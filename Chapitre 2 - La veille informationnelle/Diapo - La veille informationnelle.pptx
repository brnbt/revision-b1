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1"/>
  </p:notesMasterIdLst>
  <p:sldIdLst>
    <p:sldId id="256" r:id="rId2"/>
    <p:sldId id="284" r:id="rId3"/>
    <p:sldId id="278" r:id="rId4"/>
    <p:sldId id="285" r:id="rId5"/>
    <p:sldId id="304" r:id="rId6"/>
    <p:sldId id="305" r:id="rId7"/>
    <p:sldId id="309" r:id="rId8"/>
    <p:sldId id="306" r:id="rId9"/>
    <p:sldId id="291" r:id="rId10"/>
    <p:sldId id="292" r:id="rId11"/>
    <p:sldId id="293" r:id="rId12"/>
    <p:sldId id="298" r:id="rId13"/>
    <p:sldId id="279" r:id="rId14"/>
    <p:sldId id="294" r:id="rId15"/>
    <p:sldId id="295" r:id="rId16"/>
    <p:sldId id="296" r:id="rId17"/>
    <p:sldId id="299" r:id="rId18"/>
    <p:sldId id="297" r:id="rId19"/>
    <p:sldId id="310" r:id="rId20"/>
  </p:sldIdLst>
  <p:sldSz cx="9144000" cy="6858000" type="screen4x3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1224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683824-67EF-43B8-AB92-89344F08B6D1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08FA6C5-53EA-4172-9129-4C814EC4E882}">
      <dgm:prSet phldrT="[Texte]"/>
      <dgm:spPr/>
      <dgm:t>
        <a:bodyPr/>
        <a:lstStyle/>
        <a:p>
          <a:r>
            <a:rPr lang="fr-FR" dirty="0"/>
            <a:t>Étape 1 : Définir les objectifs de veille</a:t>
          </a:r>
        </a:p>
      </dgm:t>
    </dgm:pt>
    <dgm:pt modelId="{4000295A-5220-4597-A917-13D7A03D2040}" type="parTrans" cxnId="{944D6105-7797-46E7-91A2-EED27B242DB2}">
      <dgm:prSet/>
      <dgm:spPr/>
      <dgm:t>
        <a:bodyPr/>
        <a:lstStyle/>
        <a:p>
          <a:endParaRPr lang="fr-FR"/>
        </a:p>
      </dgm:t>
    </dgm:pt>
    <dgm:pt modelId="{1E6C1CD5-43B0-41EC-B1FC-19C253820C81}" type="sibTrans" cxnId="{944D6105-7797-46E7-91A2-EED27B242DB2}">
      <dgm:prSet/>
      <dgm:spPr/>
      <dgm:t>
        <a:bodyPr/>
        <a:lstStyle/>
        <a:p>
          <a:endParaRPr lang="fr-FR"/>
        </a:p>
      </dgm:t>
    </dgm:pt>
    <dgm:pt modelId="{87576B34-9B92-48EE-8947-2D65000452E5}">
      <dgm:prSet phldrT="[Texte]"/>
      <dgm:spPr/>
      <dgm:t>
        <a:bodyPr/>
        <a:lstStyle/>
        <a:p>
          <a:r>
            <a:rPr lang="fr-FR" dirty="0"/>
            <a:t>Etape 2 : Rechercher des sources d’information</a:t>
          </a:r>
        </a:p>
      </dgm:t>
    </dgm:pt>
    <dgm:pt modelId="{A8418CD4-4167-43EF-869F-1248D9D87771}" type="parTrans" cxnId="{E66F1FAA-F1C1-4940-9DD8-90A5B48197FD}">
      <dgm:prSet/>
      <dgm:spPr/>
      <dgm:t>
        <a:bodyPr/>
        <a:lstStyle/>
        <a:p>
          <a:endParaRPr lang="fr-FR"/>
        </a:p>
      </dgm:t>
    </dgm:pt>
    <dgm:pt modelId="{F8CFF00A-1D31-4383-8A9D-A6FDDFF3CBB5}" type="sibTrans" cxnId="{E66F1FAA-F1C1-4940-9DD8-90A5B48197FD}">
      <dgm:prSet/>
      <dgm:spPr/>
      <dgm:t>
        <a:bodyPr/>
        <a:lstStyle/>
        <a:p>
          <a:endParaRPr lang="fr-FR"/>
        </a:p>
      </dgm:t>
    </dgm:pt>
    <dgm:pt modelId="{6BDDD2B5-E396-427B-9145-D287C5E498E0}">
      <dgm:prSet phldrT="[Texte]"/>
      <dgm:spPr/>
      <dgm:t>
        <a:bodyPr/>
        <a:lstStyle/>
        <a:p>
          <a:r>
            <a:rPr lang="fr-FR" dirty="0"/>
            <a:t>Étape 3 : Collecter des informations</a:t>
          </a:r>
        </a:p>
      </dgm:t>
    </dgm:pt>
    <dgm:pt modelId="{F7428E5D-1E62-4055-BE55-17B841102B0D}" type="parTrans" cxnId="{0FAA255F-8A14-4912-A46D-B6BBB759AC39}">
      <dgm:prSet/>
      <dgm:spPr/>
      <dgm:t>
        <a:bodyPr/>
        <a:lstStyle/>
        <a:p>
          <a:endParaRPr lang="fr-FR"/>
        </a:p>
      </dgm:t>
    </dgm:pt>
    <dgm:pt modelId="{5A444E39-BEF3-4005-B13D-DE557E29C62C}" type="sibTrans" cxnId="{0FAA255F-8A14-4912-A46D-B6BBB759AC39}">
      <dgm:prSet/>
      <dgm:spPr/>
      <dgm:t>
        <a:bodyPr/>
        <a:lstStyle/>
        <a:p>
          <a:endParaRPr lang="fr-FR"/>
        </a:p>
      </dgm:t>
    </dgm:pt>
    <dgm:pt modelId="{B6096C2F-62F1-41B0-9EB7-01BE7121C15B}">
      <dgm:prSet phldrT="[Texte]"/>
      <dgm:spPr/>
      <dgm:t>
        <a:bodyPr/>
        <a:lstStyle/>
        <a:p>
          <a:r>
            <a:rPr lang="fr-FR" dirty="0"/>
            <a:t>Étape 4 : Traiter, analyser et stocker les informations</a:t>
          </a:r>
        </a:p>
      </dgm:t>
    </dgm:pt>
    <dgm:pt modelId="{9E86C325-C901-48F0-84EE-29577A8C2B2A}" type="parTrans" cxnId="{1AD30ECC-99FE-45C4-857C-DA7DBCF4D699}">
      <dgm:prSet/>
      <dgm:spPr/>
      <dgm:t>
        <a:bodyPr/>
        <a:lstStyle/>
        <a:p>
          <a:endParaRPr lang="fr-FR"/>
        </a:p>
      </dgm:t>
    </dgm:pt>
    <dgm:pt modelId="{C2120C42-F9AA-46C8-8958-AAD45E1955CC}" type="sibTrans" cxnId="{1AD30ECC-99FE-45C4-857C-DA7DBCF4D699}">
      <dgm:prSet/>
      <dgm:spPr/>
      <dgm:t>
        <a:bodyPr/>
        <a:lstStyle/>
        <a:p>
          <a:endParaRPr lang="fr-FR"/>
        </a:p>
      </dgm:t>
    </dgm:pt>
    <dgm:pt modelId="{D97E022B-4F16-449B-BCA3-65614E20C2EC}">
      <dgm:prSet phldrT="[Texte]"/>
      <dgm:spPr/>
      <dgm:t>
        <a:bodyPr/>
        <a:lstStyle/>
        <a:p>
          <a:r>
            <a:rPr lang="fr-FR" dirty="0"/>
            <a:t>Étape 5 : Diffuser, partager les informations</a:t>
          </a:r>
        </a:p>
      </dgm:t>
    </dgm:pt>
    <dgm:pt modelId="{822528AF-0818-4AFC-8F3B-90847BC10BA5}" type="parTrans" cxnId="{9E6E88D4-526E-4C37-BF89-E89003616717}">
      <dgm:prSet/>
      <dgm:spPr/>
      <dgm:t>
        <a:bodyPr/>
        <a:lstStyle/>
        <a:p>
          <a:endParaRPr lang="fr-FR"/>
        </a:p>
      </dgm:t>
    </dgm:pt>
    <dgm:pt modelId="{E12621E9-33A1-4167-BE7D-0A3A746340BF}" type="sibTrans" cxnId="{9E6E88D4-526E-4C37-BF89-E89003616717}">
      <dgm:prSet/>
      <dgm:spPr/>
      <dgm:t>
        <a:bodyPr/>
        <a:lstStyle/>
        <a:p>
          <a:endParaRPr lang="fr-FR"/>
        </a:p>
      </dgm:t>
    </dgm:pt>
    <dgm:pt modelId="{D38E6110-8B54-40B2-B27F-9AEE08D39BD4}" type="pres">
      <dgm:prSet presAssocID="{B9683824-67EF-43B8-AB92-89344F08B6D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D0F1D8E4-5D9E-4DC7-9384-5713D378829B}" type="pres">
      <dgm:prSet presAssocID="{B08FA6C5-53EA-4172-9129-4C814EC4E882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20A22C8-061C-4F73-A011-98A0EA7D61CE}" type="pres">
      <dgm:prSet presAssocID="{1E6C1CD5-43B0-41EC-B1FC-19C253820C81}" presName="sibTrans" presStyleLbl="sibTrans2D1" presStyleIdx="0" presStyleCnt="5"/>
      <dgm:spPr/>
      <dgm:t>
        <a:bodyPr/>
        <a:lstStyle/>
        <a:p>
          <a:endParaRPr lang="fr-FR"/>
        </a:p>
      </dgm:t>
    </dgm:pt>
    <dgm:pt modelId="{A5F90A85-7DD8-44A0-9B12-CF167EB7771E}" type="pres">
      <dgm:prSet presAssocID="{1E6C1CD5-43B0-41EC-B1FC-19C253820C81}" presName="connectorText" presStyleLbl="sibTrans2D1" presStyleIdx="0" presStyleCnt="5"/>
      <dgm:spPr/>
      <dgm:t>
        <a:bodyPr/>
        <a:lstStyle/>
        <a:p>
          <a:endParaRPr lang="fr-FR"/>
        </a:p>
      </dgm:t>
    </dgm:pt>
    <dgm:pt modelId="{E03290FD-E8A6-4C81-9489-9B0F92B384C4}" type="pres">
      <dgm:prSet presAssocID="{87576B34-9B92-48EE-8947-2D65000452E5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36AEBC5-70C3-4A05-B5C6-DA884F9C8A91}" type="pres">
      <dgm:prSet presAssocID="{F8CFF00A-1D31-4383-8A9D-A6FDDFF3CBB5}" presName="sibTrans" presStyleLbl="sibTrans2D1" presStyleIdx="1" presStyleCnt="5"/>
      <dgm:spPr/>
      <dgm:t>
        <a:bodyPr/>
        <a:lstStyle/>
        <a:p>
          <a:endParaRPr lang="fr-FR"/>
        </a:p>
      </dgm:t>
    </dgm:pt>
    <dgm:pt modelId="{9B8E52F9-9CDA-4910-A9C3-82F8981616EC}" type="pres">
      <dgm:prSet presAssocID="{F8CFF00A-1D31-4383-8A9D-A6FDDFF3CBB5}" presName="connectorText" presStyleLbl="sibTrans2D1" presStyleIdx="1" presStyleCnt="5"/>
      <dgm:spPr/>
      <dgm:t>
        <a:bodyPr/>
        <a:lstStyle/>
        <a:p>
          <a:endParaRPr lang="fr-FR"/>
        </a:p>
      </dgm:t>
    </dgm:pt>
    <dgm:pt modelId="{0B03BEB1-CEF0-4F0D-B6C2-8AC2161E27E6}" type="pres">
      <dgm:prSet presAssocID="{6BDDD2B5-E396-427B-9145-D287C5E498E0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E07AE92-A3E3-4292-BB65-6AF3B9FC5100}" type="pres">
      <dgm:prSet presAssocID="{5A444E39-BEF3-4005-B13D-DE557E29C62C}" presName="sibTrans" presStyleLbl="sibTrans2D1" presStyleIdx="2" presStyleCnt="5"/>
      <dgm:spPr/>
      <dgm:t>
        <a:bodyPr/>
        <a:lstStyle/>
        <a:p>
          <a:endParaRPr lang="fr-FR"/>
        </a:p>
      </dgm:t>
    </dgm:pt>
    <dgm:pt modelId="{76FF5B11-C2FA-482B-A739-E56D4E497F16}" type="pres">
      <dgm:prSet presAssocID="{5A444E39-BEF3-4005-B13D-DE557E29C62C}" presName="connectorText" presStyleLbl="sibTrans2D1" presStyleIdx="2" presStyleCnt="5"/>
      <dgm:spPr/>
      <dgm:t>
        <a:bodyPr/>
        <a:lstStyle/>
        <a:p>
          <a:endParaRPr lang="fr-FR"/>
        </a:p>
      </dgm:t>
    </dgm:pt>
    <dgm:pt modelId="{E6A86187-01A7-4046-8A8A-24CC4181AB90}" type="pres">
      <dgm:prSet presAssocID="{B6096C2F-62F1-41B0-9EB7-01BE7121C15B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64C5371-0013-4505-89D6-FF3173A05B0F}" type="pres">
      <dgm:prSet presAssocID="{C2120C42-F9AA-46C8-8958-AAD45E1955CC}" presName="sibTrans" presStyleLbl="sibTrans2D1" presStyleIdx="3" presStyleCnt="5"/>
      <dgm:spPr/>
      <dgm:t>
        <a:bodyPr/>
        <a:lstStyle/>
        <a:p>
          <a:endParaRPr lang="fr-FR"/>
        </a:p>
      </dgm:t>
    </dgm:pt>
    <dgm:pt modelId="{865BF511-AD36-499B-B68E-031BE5B083FF}" type="pres">
      <dgm:prSet presAssocID="{C2120C42-F9AA-46C8-8958-AAD45E1955CC}" presName="connectorText" presStyleLbl="sibTrans2D1" presStyleIdx="3" presStyleCnt="5"/>
      <dgm:spPr/>
      <dgm:t>
        <a:bodyPr/>
        <a:lstStyle/>
        <a:p>
          <a:endParaRPr lang="fr-FR"/>
        </a:p>
      </dgm:t>
    </dgm:pt>
    <dgm:pt modelId="{16C77B08-EBF0-4851-AD21-CBE67EF0EB55}" type="pres">
      <dgm:prSet presAssocID="{D97E022B-4F16-449B-BCA3-65614E20C2EC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026A3EA-5244-4101-AA1C-957DE2A35962}" type="pres">
      <dgm:prSet presAssocID="{E12621E9-33A1-4167-BE7D-0A3A746340BF}" presName="sibTrans" presStyleLbl="sibTrans2D1" presStyleIdx="4" presStyleCnt="5"/>
      <dgm:spPr/>
      <dgm:t>
        <a:bodyPr/>
        <a:lstStyle/>
        <a:p>
          <a:endParaRPr lang="fr-FR"/>
        </a:p>
      </dgm:t>
    </dgm:pt>
    <dgm:pt modelId="{9B1FC664-BDF0-4348-966F-A7B884F3EA3B}" type="pres">
      <dgm:prSet presAssocID="{E12621E9-33A1-4167-BE7D-0A3A746340BF}" presName="connectorText" presStyleLbl="sibTrans2D1" presStyleIdx="4" presStyleCnt="5"/>
      <dgm:spPr/>
      <dgm:t>
        <a:bodyPr/>
        <a:lstStyle/>
        <a:p>
          <a:endParaRPr lang="fr-FR"/>
        </a:p>
      </dgm:t>
    </dgm:pt>
  </dgm:ptLst>
  <dgm:cxnLst>
    <dgm:cxn modelId="{CB847B4B-0DAE-414D-A0B5-C37FBC015A52}" type="presOf" srcId="{5A444E39-BEF3-4005-B13D-DE557E29C62C}" destId="{DE07AE92-A3E3-4292-BB65-6AF3B9FC5100}" srcOrd="0" destOrd="0" presId="urn:microsoft.com/office/officeart/2005/8/layout/cycle2"/>
    <dgm:cxn modelId="{1E33F4DD-489B-41A7-9915-5428286ADDFF}" type="presOf" srcId="{B6096C2F-62F1-41B0-9EB7-01BE7121C15B}" destId="{E6A86187-01A7-4046-8A8A-24CC4181AB90}" srcOrd="0" destOrd="0" presId="urn:microsoft.com/office/officeart/2005/8/layout/cycle2"/>
    <dgm:cxn modelId="{B5A8BC9A-63A9-4BD2-88E7-89E59029C6E4}" type="presOf" srcId="{F8CFF00A-1D31-4383-8A9D-A6FDDFF3CBB5}" destId="{B36AEBC5-70C3-4A05-B5C6-DA884F9C8A91}" srcOrd="0" destOrd="0" presId="urn:microsoft.com/office/officeart/2005/8/layout/cycle2"/>
    <dgm:cxn modelId="{E184FC76-3D51-48FC-AEBF-40B021EA575C}" type="presOf" srcId="{B9683824-67EF-43B8-AB92-89344F08B6D1}" destId="{D38E6110-8B54-40B2-B27F-9AEE08D39BD4}" srcOrd="0" destOrd="0" presId="urn:microsoft.com/office/officeart/2005/8/layout/cycle2"/>
    <dgm:cxn modelId="{B29D9911-990A-4552-8262-5A8F6E4C8B6E}" type="presOf" srcId="{1E6C1CD5-43B0-41EC-B1FC-19C253820C81}" destId="{A5F90A85-7DD8-44A0-9B12-CF167EB7771E}" srcOrd="1" destOrd="0" presId="urn:microsoft.com/office/officeart/2005/8/layout/cycle2"/>
    <dgm:cxn modelId="{01818077-6A22-4BE7-8794-537A46CDA0C0}" type="presOf" srcId="{1E6C1CD5-43B0-41EC-B1FC-19C253820C81}" destId="{120A22C8-061C-4F73-A011-98A0EA7D61CE}" srcOrd="0" destOrd="0" presId="urn:microsoft.com/office/officeart/2005/8/layout/cycle2"/>
    <dgm:cxn modelId="{1AD30ECC-99FE-45C4-857C-DA7DBCF4D699}" srcId="{B9683824-67EF-43B8-AB92-89344F08B6D1}" destId="{B6096C2F-62F1-41B0-9EB7-01BE7121C15B}" srcOrd="3" destOrd="0" parTransId="{9E86C325-C901-48F0-84EE-29577A8C2B2A}" sibTransId="{C2120C42-F9AA-46C8-8958-AAD45E1955CC}"/>
    <dgm:cxn modelId="{E66F1FAA-F1C1-4940-9DD8-90A5B48197FD}" srcId="{B9683824-67EF-43B8-AB92-89344F08B6D1}" destId="{87576B34-9B92-48EE-8947-2D65000452E5}" srcOrd="1" destOrd="0" parTransId="{A8418CD4-4167-43EF-869F-1248D9D87771}" sibTransId="{F8CFF00A-1D31-4383-8A9D-A6FDDFF3CBB5}"/>
    <dgm:cxn modelId="{4295BAC0-50F4-4559-BB8B-AB387B268533}" type="presOf" srcId="{C2120C42-F9AA-46C8-8958-AAD45E1955CC}" destId="{864C5371-0013-4505-89D6-FF3173A05B0F}" srcOrd="0" destOrd="0" presId="urn:microsoft.com/office/officeart/2005/8/layout/cycle2"/>
    <dgm:cxn modelId="{0C3DC3AC-DA8A-4F2E-9694-84BB51C8030D}" type="presOf" srcId="{E12621E9-33A1-4167-BE7D-0A3A746340BF}" destId="{E026A3EA-5244-4101-AA1C-957DE2A35962}" srcOrd="0" destOrd="0" presId="urn:microsoft.com/office/officeart/2005/8/layout/cycle2"/>
    <dgm:cxn modelId="{9E6E88D4-526E-4C37-BF89-E89003616717}" srcId="{B9683824-67EF-43B8-AB92-89344F08B6D1}" destId="{D97E022B-4F16-449B-BCA3-65614E20C2EC}" srcOrd="4" destOrd="0" parTransId="{822528AF-0818-4AFC-8F3B-90847BC10BA5}" sibTransId="{E12621E9-33A1-4167-BE7D-0A3A746340BF}"/>
    <dgm:cxn modelId="{944D6105-7797-46E7-91A2-EED27B242DB2}" srcId="{B9683824-67EF-43B8-AB92-89344F08B6D1}" destId="{B08FA6C5-53EA-4172-9129-4C814EC4E882}" srcOrd="0" destOrd="0" parTransId="{4000295A-5220-4597-A917-13D7A03D2040}" sibTransId="{1E6C1CD5-43B0-41EC-B1FC-19C253820C81}"/>
    <dgm:cxn modelId="{26B5B57D-D893-4B85-9F47-CA5E78ABF629}" type="presOf" srcId="{B08FA6C5-53EA-4172-9129-4C814EC4E882}" destId="{D0F1D8E4-5D9E-4DC7-9384-5713D378829B}" srcOrd="0" destOrd="0" presId="urn:microsoft.com/office/officeart/2005/8/layout/cycle2"/>
    <dgm:cxn modelId="{B3551937-D4CC-4664-ACC4-384C3D29AECE}" type="presOf" srcId="{F8CFF00A-1D31-4383-8A9D-A6FDDFF3CBB5}" destId="{9B8E52F9-9CDA-4910-A9C3-82F8981616EC}" srcOrd="1" destOrd="0" presId="urn:microsoft.com/office/officeart/2005/8/layout/cycle2"/>
    <dgm:cxn modelId="{C0DA357E-9F7A-4F19-9161-969864AF10E1}" type="presOf" srcId="{E12621E9-33A1-4167-BE7D-0A3A746340BF}" destId="{9B1FC664-BDF0-4348-966F-A7B884F3EA3B}" srcOrd="1" destOrd="0" presId="urn:microsoft.com/office/officeart/2005/8/layout/cycle2"/>
    <dgm:cxn modelId="{C83F5347-171E-45AC-AC6B-5F4B56330974}" type="presOf" srcId="{C2120C42-F9AA-46C8-8958-AAD45E1955CC}" destId="{865BF511-AD36-499B-B68E-031BE5B083FF}" srcOrd="1" destOrd="0" presId="urn:microsoft.com/office/officeart/2005/8/layout/cycle2"/>
    <dgm:cxn modelId="{0E729218-FD10-4C40-9E59-C0DB11C8868D}" type="presOf" srcId="{5A444E39-BEF3-4005-B13D-DE557E29C62C}" destId="{76FF5B11-C2FA-482B-A739-E56D4E497F16}" srcOrd="1" destOrd="0" presId="urn:microsoft.com/office/officeart/2005/8/layout/cycle2"/>
    <dgm:cxn modelId="{0FAA255F-8A14-4912-A46D-B6BBB759AC39}" srcId="{B9683824-67EF-43B8-AB92-89344F08B6D1}" destId="{6BDDD2B5-E396-427B-9145-D287C5E498E0}" srcOrd="2" destOrd="0" parTransId="{F7428E5D-1E62-4055-BE55-17B841102B0D}" sibTransId="{5A444E39-BEF3-4005-B13D-DE557E29C62C}"/>
    <dgm:cxn modelId="{0F61A8E0-86DC-45A6-B152-D50E66731CF9}" type="presOf" srcId="{6BDDD2B5-E396-427B-9145-D287C5E498E0}" destId="{0B03BEB1-CEF0-4F0D-B6C2-8AC2161E27E6}" srcOrd="0" destOrd="0" presId="urn:microsoft.com/office/officeart/2005/8/layout/cycle2"/>
    <dgm:cxn modelId="{093A28D3-D031-4957-879E-506AF6810C1E}" type="presOf" srcId="{87576B34-9B92-48EE-8947-2D65000452E5}" destId="{E03290FD-E8A6-4C81-9489-9B0F92B384C4}" srcOrd="0" destOrd="0" presId="urn:microsoft.com/office/officeart/2005/8/layout/cycle2"/>
    <dgm:cxn modelId="{B7E671A2-8730-4EAE-8194-BDDA30E3E6DF}" type="presOf" srcId="{D97E022B-4F16-449B-BCA3-65614E20C2EC}" destId="{16C77B08-EBF0-4851-AD21-CBE67EF0EB55}" srcOrd="0" destOrd="0" presId="urn:microsoft.com/office/officeart/2005/8/layout/cycle2"/>
    <dgm:cxn modelId="{F3ED5111-3A31-4E7C-ACF6-AAB8D8668CFC}" type="presParOf" srcId="{D38E6110-8B54-40B2-B27F-9AEE08D39BD4}" destId="{D0F1D8E4-5D9E-4DC7-9384-5713D378829B}" srcOrd="0" destOrd="0" presId="urn:microsoft.com/office/officeart/2005/8/layout/cycle2"/>
    <dgm:cxn modelId="{210BEA17-2556-4ED6-B3CD-E827F5B6A087}" type="presParOf" srcId="{D38E6110-8B54-40B2-B27F-9AEE08D39BD4}" destId="{120A22C8-061C-4F73-A011-98A0EA7D61CE}" srcOrd="1" destOrd="0" presId="urn:microsoft.com/office/officeart/2005/8/layout/cycle2"/>
    <dgm:cxn modelId="{DC436F0D-7385-41DF-B86C-BE99B90DD76B}" type="presParOf" srcId="{120A22C8-061C-4F73-A011-98A0EA7D61CE}" destId="{A5F90A85-7DD8-44A0-9B12-CF167EB7771E}" srcOrd="0" destOrd="0" presId="urn:microsoft.com/office/officeart/2005/8/layout/cycle2"/>
    <dgm:cxn modelId="{DEB0B566-337F-49E0-B139-9A4F1B7C9862}" type="presParOf" srcId="{D38E6110-8B54-40B2-B27F-9AEE08D39BD4}" destId="{E03290FD-E8A6-4C81-9489-9B0F92B384C4}" srcOrd="2" destOrd="0" presId="urn:microsoft.com/office/officeart/2005/8/layout/cycle2"/>
    <dgm:cxn modelId="{4A12C74B-B698-4443-BFCD-1240DDD42A68}" type="presParOf" srcId="{D38E6110-8B54-40B2-B27F-9AEE08D39BD4}" destId="{B36AEBC5-70C3-4A05-B5C6-DA884F9C8A91}" srcOrd="3" destOrd="0" presId="urn:microsoft.com/office/officeart/2005/8/layout/cycle2"/>
    <dgm:cxn modelId="{FEEE54F4-301C-4EB5-A221-341EEA5B5357}" type="presParOf" srcId="{B36AEBC5-70C3-4A05-B5C6-DA884F9C8A91}" destId="{9B8E52F9-9CDA-4910-A9C3-82F8981616EC}" srcOrd="0" destOrd="0" presId="urn:microsoft.com/office/officeart/2005/8/layout/cycle2"/>
    <dgm:cxn modelId="{B311211D-265D-42B2-AD70-B6A6BA5A1EFE}" type="presParOf" srcId="{D38E6110-8B54-40B2-B27F-9AEE08D39BD4}" destId="{0B03BEB1-CEF0-4F0D-B6C2-8AC2161E27E6}" srcOrd="4" destOrd="0" presId="urn:microsoft.com/office/officeart/2005/8/layout/cycle2"/>
    <dgm:cxn modelId="{CDA40E6A-9072-45FD-9986-4CD0BDE71CF8}" type="presParOf" srcId="{D38E6110-8B54-40B2-B27F-9AEE08D39BD4}" destId="{DE07AE92-A3E3-4292-BB65-6AF3B9FC5100}" srcOrd="5" destOrd="0" presId="urn:microsoft.com/office/officeart/2005/8/layout/cycle2"/>
    <dgm:cxn modelId="{29347FCF-8FBA-428E-BA71-9C4636F5CA34}" type="presParOf" srcId="{DE07AE92-A3E3-4292-BB65-6AF3B9FC5100}" destId="{76FF5B11-C2FA-482B-A739-E56D4E497F16}" srcOrd="0" destOrd="0" presId="urn:microsoft.com/office/officeart/2005/8/layout/cycle2"/>
    <dgm:cxn modelId="{7850CAF7-BEEC-4F7E-8585-F7DE6EEC7428}" type="presParOf" srcId="{D38E6110-8B54-40B2-B27F-9AEE08D39BD4}" destId="{E6A86187-01A7-4046-8A8A-24CC4181AB90}" srcOrd="6" destOrd="0" presId="urn:microsoft.com/office/officeart/2005/8/layout/cycle2"/>
    <dgm:cxn modelId="{23C647A9-7D41-4CC5-AAD1-01ECB9432B6C}" type="presParOf" srcId="{D38E6110-8B54-40B2-B27F-9AEE08D39BD4}" destId="{864C5371-0013-4505-89D6-FF3173A05B0F}" srcOrd="7" destOrd="0" presId="urn:microsoft.com/office/officeart/2005/8/layout/cycle2"/>
    <dgm:cxn modelId="{5F4D3050-23ED-4C83-980E-609254EDE6A9}" type="presParOf" srcId="{864C5371-0013-4505-89D6-FF3173A05B0F}" destId="{865BF511-AD36-499B-B68E-031BE5B083FF}" srcOrd="0" destOrd="0" presId="urn:microsoft.com/office/officeart/2005/8/layout/cycle2"/>
    <dgm:cxn modelId="{E34CA84B-F5C3-4009-B2D8-6E80D16A53CD}" type="presParOf" srcId="{D38E6110-8B54-40B2-B27F-9AEE08D39BD4}" destId="{16C77B08-EBF0-4851-AD21-CBE67EF0EB55}" srcOrd="8" destOrd="0" presId="urn:microsoft.com/office/officeart/2005/8/layout/cycle2"/>
    <dgm:cxn modelId="{CA7F6E83-C6A5-4FB2-BB54-D4E699934CC0}" type="presParOf" srcId="{D38E6110-8B54-40B2-B27F-9AEE08D39BD4}" destId="{E026A3EA-5244-4101-AA1C-957DE2A35962}" srcOrd="9" destOrd="0" presId="urn:microsoft.com/office/officeart/2005/8/layout/cycle2"/>
    <dgm:cxn modelId="{5537879E-C0E7-44A1-8BF1-63AB1F9BC88E}" type="presParOf" srcId="{E026A3EA-5244-4101-AA1C-957DE2A35962}" destId="{9B1FC664-BDF0-4348-966F-A7B884F3EA3B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0F1D8E4-5D9E-4DC7-9384-5713D378829B}">
      <dsp:nvSpPr>
        <dsp:cNvPr id="0" name=""/>
        <dsp:cNvSpPr/>
      </dsp:nvSpPr>
      <dsp:spPr>
        <a:xfrm>
          <a:off x="3220439" y="1825"/>
          <a:ext cx="1488739" cy="14887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300" kern="1200" dirty="0"/>
            <a:t>Étape 1 : Définir les objectifs de veille</a:t>
          </a:r>
        </a:p>
      </dsp:txBody>
      <dsp:txXfrm>
        <a:off x="3220439" y="1825"/>
        <a:ext cx="1488739" cy="1488739"/>
      </dsp:txXfrm>
    </dsp:sp>
    <dsp:sp modelId="{120A22C8-061C-4F73-A011-98A0EA7D61CE}">
      <dsp:nvSpPr>
        <dsp:cNvPr id="0" name=""/>
        <dsp:cNvSpPr/>
      </dsp:nvSpPr>
      <dsp:spPr>
        <a:xfrm rot="2160000">
          <a:off x="4661865" y="1144781"/>
          <a:ext cx="394664" cy="5024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100" kern="1200"/>
        </a:p>
      </dsp:txBody>
      <dsp:txXfrm rot="2160000">
        <a:off x="4661865" y="1144781"/>
        <a:ext cx="394664" cy="502449"/>
      </dsp:txXfrm>
    </dsp:sp>
    <dsp:sp modelId="{E03290FD-E8A6-4C81-9489-9B0F92B384C4}">
      <dsp:nvSpPr>
        <dsp:cNvPr id="0" name=""/>
        <dsp:cNvSpPr/>
      </dsp:nvSpPr>
      <dsp:spPr>
        <a:xfrm>
          <a:off x="5027288" y="1314578"/>
          <a:ext cx="1488739" cy="14887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300" kern="1200" dirty="0"/>
            <a:t>Etape 2 : Rechercher des sources d’information</a:t>
          </a:r>
        </a:p>
      </dsp:txBody>
      <dsp:txXfrm>
        <a:off x="5027288" y="1314578"/>
        <a:ext cx="1488739" cy="1488739"/>
      </dsp:txXfrm>
    </dsp:sp>
    <dsp:sp modelId="{B36AEBC5-70C3-4A05-B5C6-DA884F9C8A91}">
      <dsp:nvSpPr>
        <dsp:cNvPr id="0" name=""/>
        <dsp:cNvSpPr/>
      </dsp:nvSpPr>
      <dsp:spPr>
        <a:xfrm rot="6480000">
          <a:off x="5232700" y="2859139"/>
          <a:ext cx="394664" cy="5024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100" kern="1200"/>
        </a:p>
      </dsp:txBody>
      <dsp:txXfrm rot="6480000">
        <a:off x="5232700" y="2859139"/>
        <a:ext cx="394664" cy="502449"/>
      </dsp:txXfrm>
    </dsp:sp>
    <dsp:sp modelId="{0B03BEB1-CEF0-4F0D-B6C2-8AC2161E27E6}">
      <dsp:nvSpPr>
        <dsp:cNvPr id="0" name=""/>
        <dsp:cNvSpPr/>
      </dsp:nvSpPr>
      <dsp:spPr>
        <a:xfrm>
          <a:off x="4337133" y="3438657"/>
          <a:ext cx="1488739" cy="14887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300" kern="1200" dirty="0"/>
            <a:t>Étape 3 : Collecter des informations</a:t>
          </a:r>
        </a:p>
      </dsp:txBody>
      <dsp:txXfrm>
        <a:off x="4337133" y="3438657"/>
        <a:ext cx="1488739" cy="1488739"/>
      </dsp:txXfrm>
    </dsp:sp>
    <dsp:sp modelId="{DE07AE92-A3E3-4292-BB65-6AF3B9FC5100}">
      <dsp:nvSpPr>
        <dsp:cNvPr id="0" name=""/>
        <dsp:cNvSpPr/>
      </dsp:nvSpPr>
      <dsp:spPr>
        <a:xfrm rot="10800000">
          <a:off x="3778646" y="3931802"/>
          <a:ext cx="394664" cy="5024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100" kern="1200"/>
        </a:p>
      </dsp:txBody>
      <dsp:txXfrm rot="10800000">
        <a:off x="3778646" y="3931802"/>
        <a:ext cx="394664" cy="502449"/>
      </dsp:txXfrm>
    </dsp:sp>
    <dsp:sp modelId="{E6A86187-01A7-4046-8A8A-24CC4181AB90}">
      <dsp:nvSpPr>
        <dsp:cNvPr id="0" name=""/>
        <dsp:cNvSpPr/>
      </dsp:nvSpPr>
      <dsp:spPr>
        <a:xfrm>
          <a:off x="2103745" y="3438657"/>
          <a:ext cx="1488739" cy="14887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300" kern="1200" dirty="0"/>
            <a:t>Étape 4 : Traiter, analyser et stocker les informations</a:t>
          </a:r>
        </a:p>
      </dsp:txBody>
      <dsp:txXfrm>
        <a:off x="2103745" y="3438657"/>
        <a:ext cx="1488739" cy="1488739"/>
      </dsp:txXfrm>
    </dsp:sp>
    <dsp:sp modelId="{864C5371-0013-4505-89D6-FF3173A05B0F}">
      <dsp:nvSpPr>
        <dsp:cNvPr id="0" name=""/>
        <dsp:cNvSpPr/>
      </dsp:nvSpPr>
      <dsp:spPr>
        <a:xfrm rot="15120000">
          <a:off x="2309156" y="2880385"/>
          <a:ext cx="394664" cy="5024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100" kern="1200"/>
        </a:p>
      </dsp:txBody>
      <dsp:txXfrm rot="15120000">
        <a:off x="2309156" y="2880385"/>
        <a:ext cx="394664" cy="502449"/>
      </dsp:txXfrm>
    </dsp:sp>
    <dsp:sp modelId="{16C77B08-EBF0-4851-AD21-CBE67EF0EB55}">
      <dsp:nvSpPr>
        <dsp:cNvPr id="0" name=""/>
        <dsp:cNvSpPr/>
      </dsp:nvSpPr>
      <dsp:spPr>
        <a:xfrm>
          <a:off x="1413590" y="1314578"/>
          <a:ext cx="1488739" cy="14887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300" kern="1200" dirty="0"/>
            <a:t>Étape 5 : Diffuser, partager les informations</a:t>
          </a:r>
        </a:p>
      </dsp:txBody>
      <dsp:txXfrm>
        <a:off x="1413590" y="1314578"/>
        <a:ext cx="1488739" cy="1488739"/>
      </dsp:txXfrm>
    </dsp:sp>
    <dsp:sp modelId="{E026A3EA-5244-4101-AA1C-957DE2A35962}">
      <dsp:nvSpPr>
        <dsp:cNvPr id="0" name=""/>
        <dsp:cNvSpPr/>
      </dsp:nvSpPr>
      <dsp:spPr>
        <a:xfrm rot="19440000">
          <a:off x="2855015" y="1157912"/>
          <a:ext cx="394664" cy="5024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100" kern="1200"/>
        </a:p>
      </dsp:txBody>
      <dsp:txXfrm rot="19440000">
        <a:off x="2855015" y="1157912"/>
        <a:ext cx="394664" cy="5024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/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>
            <a:extLst>
              <a:ext uri="{FF2B5EF4-FFF2-40B4-BE49-F238E27FC236}"/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fld id="{13D7E766-472F-4BA7-900F-969AABCBDBC6}" type="datetimeFigureOut">
              <a:rPr lang="fr-FR"/>
              <a:pPr>
                <a:defRPr/>
              </a:pPr>
              <a:t>01/10/2023</a:t>
            </a:fld>
            <a:endParaRPr lang="fr-FR"/>
          </a:p>
        </p:txBody>
      </p:sp>
      <p:sp>
        <p:nvSpPr>
          <p:cNvPr id="4" name="Espace réservé de l'image des diapositives 3">
            <a:extLst>
              <a:ext uri="{FF2B5EF4-FFF2-40B4-BE49-F238E27FC236}"/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>
            <a:extLst>
              <a:ext uri="{FF2B5EF4-FFF2-40B4-BE49-F238E27FC236}"/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EC91913E-640E-419C-AEE8-8EEA9A897025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1032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F5E2A3-51C3-4E56-B677-990C5766ADAD}" type="datetimeFigureOut">
              <a:rPr lang="fr-FR"/>
              <a:pPr>
                <a:defRPr/>
              </a:pPr>
              <a:t>01/10/2023</a:t>
            </a:fld>
            <a:endParaRPr lang="fr-FR"/>
          </a:p>
        </p:txBody>
      </p:sp>
      <p:sp>
        <p:nvSpPr>
          <p:cNvPr id="5" name="Rectangle 1033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03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183390-9C2F-48D3-862F-0C1288ADED64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1032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9248EC-3D9A-4295-BA70-1C9932A86191}" type="datetimeFigureOut">
              <a:rPr lang="fr-FR"/>
              <a:pPr>
                <a:defRPr/>
              </a:pPr>
              <a:t>01/10/2023</a:t>
            </a:fld>
            <a:endParaRPr lang="fr-FR"/>
          </a:p>
        </p:txBody>
      </p:sp>
      <p:sp>
        <p:nvSpPr>
          <p:cNvPr id="5" name="Rectangle 1033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03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846B60-9EFC-43A3-9F00-7F1CC71F7905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2362200"/>
            <a:ext cx="39243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991100" y="2362200"/>
            <a:ext cx="39243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1032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525FF6-1C17-4696-98BE-53FFB396FDCA}" type="datetimeFigureOut">
              <a:rPr lang="fr-FR"/>
              <a:pPr>
                <a:defRPr/>
              </a:pPr>
              <a:t>01/10/2023</a:t>
            </a:fld>
            <a:endParaRPr lang="fr-FR"/>
          </a:p>
        </p:txBody>
      </p:sp>
      <p:sp>
        <p:nvSpPr>
          <p:cNvPr id="6" name="Rectangle 1033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103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AB6BD-CC49-48BD-8FFF-A79F0334A81A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1032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421EAE-8EB5-4FEA-8727-6F7BDDCB6A76}" type="datetimeFigureOut">
              <a:rPr lang="fr-FR"/>
              <a:pPr>
                <a:defRPr/>
              </a:pPr>
              <a:t>01/10/2023</a:t>
            </a:fld>
            <a:endParaRPr lang="fr-FR"/>
          </a:p>
        </p:txBody>
      </p:sp>
      <p:sp>
        <p:nvSpPr>
          <p:cNvPr id="8" name="Rectangle 1033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103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8F32EB-A1E8-40B7-9E22-3BDB7688F377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1032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89E82B-4A53-4955-8CDA-2DE46D5D70D7}" type="datetimeFigureOut">
              <a:rPr lang="fr-FR"/>
              <a:pPr>
                <a:defRPr/>
              </a:pPr>
              <a:t>01/10/2023</a:t>
            </a:fld>
            <a:endParaRPr lang="fr-FR"/>
          </a:p>
        </p:txBody>
      </p:sp>
      <p:sp>
        <p:nvSpPr>
          <p:cNvPr id="4" name="Rectangle 1033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103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197DF2-E77C-4772-A8FF-AE157A83A070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2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30045-59B2-41B4-8C25-F4613FFE4E21}" type="datetimeFigureOut">
              <a:rPr lang="fr-FR"/>
              <a:pPr>
                <a:defRPr/>
              </a:pPr>
              <a:t>01/10/2023</a:t>
            </a:fld>
            <a:endParaRPr lang="fr-FR"/>
          </a:p>
        </p:txBody>
      </p:sp>
      <p:sp>
        <p:nvSpPr>
          <p:cNvPr id="3" name="Rectangle 1033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103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6CC7D0-26AD-4BB9-8519-F1F70237A819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1032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0B06D2-A685-4249-A522-078839824FA9}" type="datetimeFigureOut">
              <a:rPr lang="fr-FR"/>
              <a:pPr>
                <a:defRPr/>
              </a:pPr>
              <a:t>01/10/2023</a:t>
            </a:fld>
            <a:endParaRPr lang="fr-FR"/>
          </a:p>
        </p:txBody>
      </p:sp>
      <p:sp>
        <p:nvSpPr>
          <p:cNvPr id="6" name="Rectangle 1033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103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236277-3048-4301-95C2-D19BFDCB5BE4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1032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A52020-0AFD-4583-986A-BB4D0B641D57}" type="datetimeFigureOut">
              <a:rPr lang="fr-FR"/>
              <a:pPr>
                <a:defRPr/>
              </a:pPr>
              <a:t>01/10/2023</a:t>
            </a:fld>
            <a:endParaRPr lang="fr-FR"/>
          </a:p>
        </p:txBody>
      </p:sp>
      <p:sp>
        <p:nvSpPr>
          <p:cNvPr id="6" name="Rectangle 1033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103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1F190-FAB5-4BDB-A9C7-977F07A98A2B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1032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45D222-4907-4851-9FD0-1B7AD8776FCB}" type="datetimeFigureOut">
              <a:rPr lang="fr-FR"/>
              <a:pPr>
                <a:defRPr/>
              </a:pPr>
              <a:t>01/10/2023</a:t>
            </a:fld>
            <a:endParaRPr lang="fr-FR"/>
          </a:p>
        </p:txBody>
      </p:sp>
      <p:sp>
        <p:nvSpPr>
          <p:cNvPr id="5" name="Rectangle 1033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03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64A841-C52C-4FFC-939C-DBF9456AEDCE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915150" y="762000"/>
            <a:ext cx="2000250" cy="53340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762000"/>
            <a:ext cx="5848350" cy="53340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1032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2F4186-BEE5-47A4-80A9-FD386520F349}" type="datetimeFigureOut">
              <a:rPr lang="fr-FR"/>
              <a:pPr>
                <a:defRPr/>
              </a:pPr>
              <a:t>01/10/2023</a:t>
            </a:fld>
            <a:endParaRPr lang="fr-FR"/>
          </a:p>
        </p:txBody>
      </p:sp>
      <p:sp>
        <p:nvSpPr>
          <p:cNvPr id="5" name="Rectangle 1033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03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D5FBD4-6380-4AF2-9BC9-DD2CC4E89524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1032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CE41B7-148E-47A5-B35B-8BFC01423200}" type="datetimeFigureOut">
              <a:rPr lang="fr-FR"/>
              <a:pPr>
                <a:defRPr/>
              </a:pPr>
              <a:t>01/10/2023</a:t>
            </a:fld>
            <a:endParaRPr lang="fr-FR"/>
          </a:p>
        </p:txBody>
      </p:sp>
      <p:sp>
        <p:nvSpPr>
          <p:cNvPr id="5" name="Rectangle 1033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03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5E1060-64ED-4D4F-9037-6B67E14B9472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026"/>
          <p:cNvGrpSpPr>
            <a:grpSpLocks/>
          </p:cNvGrpSpPr>
          <p:nvPr/>
        </p:nvGrpSpPr>
        <p:grpSpPr bwMode="auto">
          <a:xfrm>
            <a:off x="0" y="0"/>
            <a:ext cx="3200400" cy="6858000"/>
            <a:chOff x="0" y="0"/>
            <a:chExt cx="2016" cy="4320"/>
          </a:xfrm>
        </p:grpSpPr>
        <p:sp>
          <p:nvSpPr>
            <p:cNvPr id="1036" name="Rectangle 1027">
              <a:extLst>
                <a:ext uri="{FF2B5EF4-FFF2-40B4-BE49-F238E27FC236}"/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/>
            </a:p>
          </p:txBody>
        </p:sp>
        <p:sp>
          <p:nvSpPr>
            <p:cNvPr id="1037" name="Rectangle 1028">
              <a:extLst>
                <a:ext uri="{FF2B5EF4-FFF2-40B4-BE49-F238E27FC236}"/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0"/>
              <a:ext cx="1584" cy="6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/>
            </a:p>
          </p:txBody>
        </p:sp>
      </p:grpSp>
      <p:sp>
        <p:nvSpPr>
          <p:cNvPr id="1027" name="AutoShape 1029">
            <a:extLst>
              <a:ext uri="{FF2B5EF4-FFF2-40B4-BE49-F238E27FC236}"/>
            </a:extLst>
          </p:cNvPr>
          <p:cNvSpPr>
            <a:spLocks noChangeArrowheads="1"/>
          </p:cNvSpPr>
          <p:nvPr/>
        </p:nvSpPr>
        <p:spPr bwMode="auto">
          <a:xfrm>
            <a:off x="762000" y="762000"/>
            <a:ext cx="510540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fr-FR" altLang="fr-FR"/>
          </a:p>
        </p:txBody>
      </p:sp>
      <p:sp>
        <p:nvSpPr>
          <p:cNvPr id="1028" name="Rectangle 1030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762000"/>
            <a:ext cx="8001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 du masque</a:t>
            </a:r>
          </a:p>
        </p:txBody>
      </p:sp>
      <p:sp>
        <p:nvSpPr>
          <p:cNvPr id="1029" name="Rectangle 103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2362200"/>
            <a:ext cx="80010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22536" name="Rectangle 1032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104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defRPr sz="1400">
                <a:latin typeface="+mn-lt"/>
                <a:cs typeface="Arial" charset="0"/>
              </a:defRPr>
            </a:lvl1pPr>
          </a:lstStyle>
          <a:p>
            <a:pPr>
              <a:defRPr/>
            </a:pPr>
            <a:fld id="{11DBE88E-04CF-4E2C-B4AE-A9BC225644E4}" type="datetimeFigureOut">
              <a:rPr lang="fr-FR"/>
              <a:pPr>
                <a:defRPr/>
              </a:pPr>
              <a:t>01/10/2023</a:t>
            </a:fld>
            <a:endParaRPr lang="fr-FR"/>
          </a:p>
        </p:txBody>
      </p:sp>
      <p:sp>
        <p:nvSpPr>
          <p:cNvPr id="22537" name="Rectangle 1033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36875" y="6529388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ctr" eaLnBrk="1" hangingPunct="1">
              <a:defRPr sz="1400">
                <a:latin typeface="+mn-lt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2538" name="Rectangle 103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343650"/>
            <a:ext cx="5873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  <a:spAutoFit/>
          </a:bodyPr>
          <a:lstStyle>
            <a:lvl1pPr eaLnBrk="1" hangingPunct="1">
              <a:defRPr sz="2600" b="1" smtClean="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fld id="{B11054EC-3AA1-4B05-9849-A0C8DFF8331F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grpSp>
        <p:nvGrpSpPr>
          <p:cNvPr id="1033" name="Group 1035"/>
          <p:cNvGrpSpPr>
            <a:grpSpLocks/>
          </p:cNvGrpSpPr>
          <p:nvPr/>
        </p:nvGrpSpPr>
        <p:grpSpPr bwMode="auto">
          <a:xfrm>
            <a:off x="228600" y="1981200"/>
            <a:ext cx="7391400" cy="319088"/>
            <a:chOff x="144" y="1248"/>
            <a:chExt cx="4656" cy="201"/>
          </a:xfrm>
        </p:grpSpPr>
        <p:sp>
          <p:nvSpPr>
            <p:cNvPr id="1034" name="AutoShape 1036">
              <a:extLst>
                <a:ext uri="{FF2B5EF4-FFF2-40B4-BE49-F238E27FC236}"/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248"/>
              <a:ext cx="4416" cy="200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/>
            </a:p>
          </p:txBody>
        </p:sp>
        <p:sp>
          <p:nvSpPr>
            <p:cNvPr id="1035" name="AutoShape 1037">
              <a:extLst>
                <a:ext uri="{FF2B5EF4-FFF2-40B4-BE49-F238E27FC236}"/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4" y="1248"/>
              <a:ext cx="248" cy="201"/>
            </a:xfrm>
            <a:prstGeom prst="flowChartDelay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endParaRPr lang="fr-FR">
              <a:solidFill>
                <a:schemeClr val="tx1"/>
              </a:solidFill>
              <a:latin typeface="Times New Roman" pitchFamily="18" charset="0"/>
              <a:cs typeface="Arial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7763" y="4724400"/>
            <a:ext cx="1719262" cy="153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19475" y="4941888"/>
            <a:ext cx="1562100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5" name="Rectangle 3"/>
          <p:cNvSpPr>
            <a:spLocks noChangeArrowheads="1"/>
          </p:cNvSpPr>
          <p:nvPr/>
        </p:nvSpPr>
        <p:spPr bwMode="auto">
          <a:xfrm>
            <a:off x="900113" y="2133600"/>
            <a:ext cx="7643812" cy="253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ts val="600"/>
              </a:spcBef>
              <a:defRPr/>
            </a:pPr>
            <a:r>
              <a:rPr lang="fr-FR" altLang="fr-FR" sz="3600" dirty="0">
                <a:solidFill>
                  <a:srgbClr val="0070C0"/>
                </a:solidFill>
                <a:latin typeface="+mn-lt"/>
              </a:rPr>
              <a:t>Définition 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fr-FR" altLang="fr-FR" sz="3600" dirty="0">
                <a:solidFill>
                  <a:srgbClr val="0070C0"/>
                </a:solidFill>
                <a:latin typeface="+mn-lt"/>
              </a:rPr>
              <a:t>I. Les types de veille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fr-FR" altLang="fr-FR" sz="3600" dirty="0">
                <a:solidFill>
                  <a:srgbClr val="0070C0"/>
                </a:solidFill>
                <a:latin typeface="+mn-lt"/>
              </a:rPr>
              <a:t>II. Les méthodes de veille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fr-FR" altLang="fr-FR" sz="3600" dirty="0">
                <a:solidFill>
                  <a:srgbClr val="0070C0"/>
                </a:solidFill>
                <a:latin typeface="+mn-lt"/>
              </a:rPr>
              <a:t>III. Les étapes de la veille</a:t>
            </a:r>
          </a:p>
        </p:txBody>
      </p:sp>
      <p:pic>
        <p:nvPicPr>
          <p:cNvPr id="3078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2988" y="4941888"/>
            <a:ext cx="1162050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re 1"/>
          <p:cNvSpPr txBox="1">
            <a:spLocks/>
          </p:cNvSpPr>
          <p:nvPr/>
        </p:nvSpPr>
        <p:spPr>
          <a:xfrm>
            <a:off x="2051720" y="548680"/>
            <a:ext cx="6944816" cy="147002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fr-FR" sz="4000" cap="all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Chapitre 2 – LA veille INFORMATIONNELLE 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" y="260648"/>
            <a:ext cx="2339752" cy="1363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altLang="fr-FR" smtClean="0"/>
              <a:t>Définition de la notion de veille</a:t>
            </a:r>
          </a:p>
        </p:txBody>
      </p:sp>
      <p:sp>
        <p:nvSpPr>
          <p:cNvPr id="4099" name="Espace réservé du contenu 2"/>
          <p:cNvSpPr>
            <a:spLocks noGrp="1" noChangeArrowheads="1"/>
          </p:cNvSpPr>
          <p:nvPr>
            <p:ph idx="1"/>
          </p:nvPr>
        </p:nvSpPr>
        <p:spPr>
          <a:xfrm>
            <a:off x="857250" y="2286000"/>
            <a:ext cx="8001000" cy="3733800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fr-FR" altLang="fr-FR" sz="3200" smtClean="0">
                <a:solidFill>
                  <a:srgbClr val="0070C0"/>
                </a:solidFill>
              </a:rPr>
              <a:t>Définition de l’AFNOR</a:t>
            </a:r>
          </a:p>
          <a:p>
            <a:endParaRPr lang="fr-FR" altLang="fr-FR" smtClean="0"/>
          </a:p>
          <a:p>
            <a:pPr>
              <a:spcBef>
                <a:spcPts val="1200"/>
              </a:spcBef>
              <a:buFont typeface="Wingdings" pitchFamily="2" charset="2"/>
              <a:buNone/>
            </a:pPr>
            <a:r>
              <a:rPr lang="fr-FR" altLang="fr-FR" sz="3200" smtClean="0"/>
              <a:t>	</a:t>
            </a:r>
            <a:endParaRPr lang="fr-FR" altLang="fr-FR" smtClean="0"/>
          </a:p>
        </p:txBody>
      </p:sp>
      <p:pic>
        <p:nvPicPr>
          <p:cNvPr id="410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14625" y="2928938"/>
            <a:ext cx="14478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29188" y="3000375"/>
            <a:ext cx="208597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>
            <a:extLst>
              <a:ext uri="{FF2B5EF4-FFF2-40B4-BE49-F238E27FC236}"/>
            </a:extLst>
          </p:cNvPr>
          <p:cNvSpPr/>
          <p:nvPr/>
        </p:nvSpPr>
        <p:spPr>
          <a:xfrm>
            <a:off x="928688" y="3786188"/>
            <a:ext cx="8072437" cy="2554287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eaLnBrk="1" hangingPunct="1">
              <a:spcBef>
                <a:spcPts val="1200"/>
              </a:spcBef>
              <a:defRPr/>
            </a:pPr>
            <a:r>
              <a:rPr lang="fr-FR" sz="3200" dirty="0">
                <a:latin typeface="+mn-lt"/>
              </a:rPr>
              <a:t>La veille informationnelle est une « activité continue en grande partie itérative visant à une surveillance active de l’environnement technologique, commercial, etc., pour en anticiper les évolutions 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 noChangeArrowheads="1"/>
          </p:cNvSpPr>
          <p:nvPr>
            <p:ph type="title"/>
          </p:nvPr>
        </p:nvSpPr>
        <p:spPr>
          <a:xfrm>
            <a:off x="928688" y="500063"/>
            <a:ext cx="8001000" cy="1143000"/>
          </a:xfrm>
        </p:spPr>
        <p:txBody>
          <a:bodyPr/>
          <a:lstStyle/>
          <a:p>
            <a:pPr algn="ctr"/>
            <a:r>
              <a:rPr lang="fr-FR" altLang="fr-FR" smtClean="0"/>
              <a:t>Pourquoi faire de la veille ?</a:t>
            </a:r>
          </a:p>
        </p:txBody>
      </p:sp>
      <p:sp>
        <p:nvSpPr>
          <p:cNvPr id="5123" name="Espace réservé du contenu 2"/>
          <p:cNvSpPr>
            <a:spLocks noGrp="1" noChangeArrowheads="1"/>
          </p:cNvSpPr>
          <p:nvPr>
            <p:ph idx="1"/>
          </p:nvPr>
        </p:nvSpPr>
        <p:spPr>
          <a:xfrm>
            <a:off x="857250" y="2500313"/>
            <a:ext cx="8001000" cy="3733800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fr-FR" altLang="fr-FR" sz="3600" smtClean="0"/>
              <a:t>mieux cerner son environnement </a:t>
            </a:r>
          </a:p>
          <a:p>
            <a:pPr>
              <a:buFont typeface="Wingdings" pitchFamily="2" charset="2"/>
              <a:buChar char="§"/>
            </a:pPr>
            <a:r>
              <a:rPr lang="fr-FR" altLang="fr-FR" sz="3600" smtClean="0"/>
              <a:t>anticiper ses évolutions </a:t>
            </a:r>
          </a:p>
          <a:p>
            <a:pPr>
              <a:buFont typeface="Wingdings" pitchFamily="2" charset="2"/>
              <a:buChar char="§"/>
            </a:pPr>
            <a:r>
              <a:rPr lang="fr-FR" altLang="fr-FR" sz="3600" smtClean="0"/>
              <a:t>lutter contre l’infobésité </a:t>
            </a:r>
          </a:p>
          <a:p>
            <a:pPr>
              <a:buFont typeface="Wingdings" pitchFamily="2" charset="2"/>
              <a:buChar char="§"/>
            </a:pPr>
            <a:r>
              <a:rPr lang="fr-FR" altLang="fr-FR" sz="3600" smtClean="0"/>
              <a:t>aider à la prise de décision.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endParaRPr lang="fr-FR" altLang="fr-FR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" y="214313"/>
            <a:ext cx="9001125" cy="630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/>
            </a:extLst>
          </p:cNvPr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endParaRPr lang="fr-FR">
              <a:solidFill>
                <a:schemeClr val="tx1"/>
              </a:solidFill>
              <a:latin typeface="Times New Roman" pitchFamily="18" charset="0"/>
              <a:cs typeface="Arial" charset="0"/>
            </a:endParaRPr>
          </a:p>
        </p:txBody>
      </p:sp>
      <p:pic>
        <p:nvPicPr>
          <p:cNvPr id="717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6488" y="1268413"/>
            <a:ext cx="6929437" cy="517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2" name="Titre 1"/>
          <p:cNvSpPr>
            <a:spLocks noGrp="1" noChangeArrowheads="1"/>
          </p:cNvSpPr>
          <p:nvPr>
            <p:ph type="title"/>
          </p:nvPr>
        </p:nvSpPr>
        <p:spPr>
          <a:xfrm>
            <a:off x="677863" y="-84138"/>
            <a:ext cx="8001000" cy="1143001"/>
          </a:xfrm>
        </p:spPr>
        <p:txBody>
          <a:bodyPr/>
          <a:lstStyle/>
          <a:p>
            <a:pPr algn="ctr"/>
            <a:r>
              <a:rPr lang="fr-FR" altLang="fr-FR" smtClean="0"/>
              <a:t>I. Les différents types de veille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/>
            </a:extLst>
          </p:cNvPr>
          <p:cNvSpPr/>
          <p:nvPr/>
        </p:nvSpPr>
        <p:spPr bwMode="auto">
          <a:xfrm>
            <a:off x="-107950" y="0"/>
            <a:ext cx="9251950" cy="685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endParaRPr lang="fr-FR">
              <a:solidFill>
                <a:schemeClr val="tx1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8195" name="Titre 1"/>
          <p:cNvSpPr>
            <a:spLocks noGrp="1" noChangeArrowheads="1"/>
          </p:cNvSpPr>
          <p:nvPr>
            <p:ph type="title"/>
          </p:nvPr>
        </p:nvSpPr>
        <p:spPr>
          <a:xfrm>
            <a:off x="808038" y="-315913"/>
            <a:ext cx="8001000" cy="1143001"/>
          </a:xfrm>
        </p:spPr>
        <p:txBody>
          <a:bodyPr/>
          <a:lstStyle/>
          <a:p>
            <a:pPr algn="ctr"/>
            <a:r>
              <a:rPr lang="fr-FR" altLang="fr-FR" smtClean="0"/>
              <a:t>Exemple de veille commerciale</a:t>
            </a:r>
          </a:p>
        </p:txBody>
      </p:sp>
      <p:pic>
        <p:nvPicPr>
          <p:cNvPr id="819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3050" y="1905000"/>
            <a:ext cx="8535988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Image 2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19475" y="923925"/>
            <a:ext cx="1768475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/>
            </a:extLst>
          </p:cNvPr>
          <p:cNvSpPr/>
          <p:nvPr/>
        </p:nvSpPr>
        <p:spPr bwMode="auto">
          <a:xfrm>
            <a:off x="-107950" y="0"/>
            <a:ext cx="9251950" cy="685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endParaRPr lang="fr-FR">
              <a:solidFill>
                <a:schemeClr val="tx1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9219" name="Titre 1"/>
          <p:cNvSpPr>
            <a:spLocks noGrp="1" noChangeArrowheads="1"/>
          </p:cNvSpPr>
          <p:nvPr>
            <p:ph type="title"/>
          </p:nvPr>
        </p:nvSpPr>
        <p:spPr>
          <a:xfrm>
            <a:off x="808038" y="-315913"/>
            <a:ext cx="8001000" cy="1143001"/>
          </a:xfrm>
        </p:spPr>
        <p:txBody>
          <a:bodyPr/>
          <a:lstStyle/>
          <a:p>
            <a:pPr algn="ctr"/>
            <a:r>
              <a:rPr lang="fr-FR" altLang="fr-FR" smtClean="0"/>
              <a:t>Exemple de veille commerciale</a:t>
            </a:r>
          </a:p>
        </p:txBody>
      </p:sp>
      <p:pic>
        <p:nvPicPr>
          <p:cNvPr id="9220" name="Image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9475" y="923925"/>
            <a:ext cx="1768475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1" name="Image 3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2060575"/>
            <a:ext cx="1793875" cy="33401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9222" name="Rectangle 7"/>
          <p:cNvSpPr>
            <a:spLocks noChangeArrowheads="1"/>
          </p:cNvSpPr>
          <p:nvPr/>
        </p:nvSpPr>
        <p:spPr bwMode="auto">
          <a:xfrm>
            <a:off x="2484438" y="1916113"/>
            <a:ext cx="6264275" cy="415607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ru-RU" b="1">
                <a:solidFill>
                  <a:srgbClr val="0070C0"/>
                </a:solidFill>
              </a:rPr>
              <a:t>2017 - Expulsion forcée d’un passager d’United Airlines</a:t>
            </a:r>
          </a:p>
          <a:p>
            <a:r>
              <a:rPr lang="fr-FR" altLang="ru-RU">
                <a:solidFill>
                  <a:srgbClr val="0070C0"/>
                </a:solidFill>
              </a:rPr>
              <a:t>En pratiquant le surbooking, United a joué avec le feu. Incapable de trouver des volontaires pour quitter son vol Chicago-Louisville, la compagnie décide d’employer la méthode forte. Un passager est expulsé de manière violente de l’avion. Le passager est filmé par les autres passagers à bord. Les images ont rapidement fait le tour du monde.</a:t>
            </a:r>
            <a:r>
              <a:rPr lang="fr-FR" altLang="fr-FR">
                <a:solidFill>
                  <a:srgbClr val="0070C0"/>
                </a:solidFill>
              </a:rPr>
              <a:t> Conséquences : </a:t>
            </a:r>
            <a:r>
              <a:rPr lang="fr-FR" altLang="ru-RU">
                <a:solidFill>
                  <a:srgbClr val="0070C0"/>
                </a:solidFill>
              </a:rPr>
              <a:t>2 millions de tweets et </a:t>
            </a:r>
            <a:r>
              <a:rPr lang="fr-FR" altLang="fr-FR">
                <a:solidFill>
                  <a:srgbClr val="0070C0"/>
                </a:solidFill>
              </a:rPr>
              <a:t>baisse en bourse de 4%. </a:t>
            </a:r>
            <a:endParaRPr lang="fr-FR" altLang="ru-RU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/>
            </a:extLst>
          </p:cNvPr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endParaRPr lang="fr-FR">
              <a:solidFill>
                <a:schemeClr val="tx1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10243" name="Titre 1"/>
          <p:cNvSpPr>
            <a:spLocks noGrp="1" noChangeArrowheads="1"/>
          </p:cNvSpPr>
          <p:nvPr>
            <p:ph type="title"/>
          </p:nvPr>
        </p:nvSpPr>
        <p:spPr>
          <a:xfrm>
            <a:off x="827088" y="-242888"/>
            <a:ext cx="8001000" cy="1143001"/>
          </a:xfrm>
        </p:spPr>
        <p:txBody>
          <a:bodyPr/>
          <a:lstStyle/>
          <a:p>
            <a:pPr algn="ctr"/>
            <a:r>
              <a:rPr lang="fr-FR" altLang="fr-FR" smtClean="0"/>
              <a:t>Exemple de veille technologique</a:t>
            </a:r>
          </a:p>
        </p:txBody>
      </p:sp>
      <p:pic>
        <p:nvPicPr>
          <p:cNvPr id="1024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950" y="1762125"/>
            <a:ext cx="9018588" cy="447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5" name="Image 2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4800" y="862013"/>
            <a:ext cx="733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re 1"/>
          <p:cNvSpPr>
            <a:spLocks noGrp="1" noChangeArrowheads="1"/>
          </p:cNvSpPr>
          <p:nvPr>
            <p:ph type="title"/>
          </p:nvPr>
        </p:nvSpPr>
        <p:spPr>
          <a:xfrm>
            <a:off x="971550" y="476250"/>
            <a:ext cx="6072188" cy="1143000"/>
          </a:xfrm>
        </p:spPr>
        <p:txBody>
          <a:bodyPr/>
          <a:lstStyle/>
          <a:p>
            <a:pPr algn="ctr"/>
            <a:r>
              <a:rPr lang="fr-FR" altLang="fr-FR" smtClean="0"/>
              <a:t>II. Les méthodes de veille</a:t>
            </a:r>
          </a:p>
        </p:txBody>
      </p:sp>
      <p:pic>
        <p:nvPicPr>
          <p:cNvPr id="1126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5375" y="2690813"/>
            <a:ext cx="6953250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1563" y="2286000"/>
            <a:ext cx="7620000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71625" y="4286250"/>
            <a:ext cx="6870700" cy="221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0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86563" y="428625"/>
            <a:ext cx="191452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re 1"/>
          <p:cNvSpPr>
            <a:spLocks noGrp="1" noChangeArrowheads="1"/>
          </p:cNvSpPr>
          <p:nvPr>
            <p:ph type="title"/>
          </p:nvPr>
        </p:nvSpPr>
        <p:spPr>
          <a:xfrm>
            <a:off x="0" y="333375"/>
            <a:ext cx="8001000" cy="1143000"/>
          </a:xfrm>
        </p:spPr>
        <p:txBody>
          <a:bodyPr/>
          <a:lstStyle/>
          <a:p>
            <a:pPr algn="ctr"/>
            <a:r>
              <a:rPr lang="fr-FR" altLang="fr-FR" sz="3200" smtClean="0"/>
              <a:t>II. Les méthodes de veille (suite)</a:t>
            </a:r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500313"/>
            <a:ext cx="6953250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57375" y="4143375"/>
            <a:ext cx="6562725" cy="243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21525" y="428625"/>
            <a:ext cx="191452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re 1"/>
          <p:cNvSpPr>
            <a:spLocks noGrp="1" noChangeArrowheads="1"/>
          </p:cNvSpPr>
          <p:nvPr>
            <p:ph type="title"/>
          </p:nvPr>
        </p:nvSpPr>
        <p:spPr>
          <a:xfrm>
            <a:off x="714375" y="260350"/>
            <a:ext cx="8429625" cy="1143000"/>
          </a:xfrm>
        </p:spPr>
        <p:txBody>
          <a:bodyPr/>
          <a:lstStyle/>
          <a:p>
            <a:pPr algn="ctr"/>
            <a:r>
              <a:rPr lang="fr-FR" altLang="fr-FR" smtClean="0"/>
              <a:t>III. Les étapes de la veille</a:t>
            </a:r>
          </a:p>
        </p:txBody>
      </p:sp>
      <p:sp>
        <p:nvSpPr>
          <p:cNvPr id="13315" name="Rectangle 5"/>
          <p:cNvSpPr>
            <a:spLocks noChangeArrowheads="1"/>
          </p:cNvSpPr>
          <p:nvPr/>
        </p:nvSpPr>
        <p:spPr bwMode="auto">
          <a:xfrm>
            <a:off x="0" y="1714500"/>
            <a:ext cx="9144000" cy="51435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endParaRPr lang="fr-FR" altLang="fr-FR"/>
          </a:p>
        </p:txBody>
      </p:sp>
      <p:graphicFrame>
        <p:nvGraphicFramePr>
          <p:cNvPr id="7" name="Diagramme 6">
            <a:extLst>
              <a:ext uri="{FF2B5EF4-FFF2-40B4-BE49-F238E27FC236}"/>
            </a:extLst>
          </p:cNvPr>
          <p:cNvGraphicFramePr/>
          <p:nvPr/>
        </p:nvGraphicFramePr>
        <p:xfrm>
          <a:off x="714348" y="1714488"/>
          <a:ext cx="7929618" cy="4929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/>
            </a:extLst>
          </p:cNvPr>
          <p:cNvSpPr txBox="1">
            <a:spLocks/>
          </p:cNvSpPr>
          <p:nvPr/>
        </p:nvSpPr>
        <p:spPr bwMode="auto">
          <a:xfrm>
            <a:off x="714375" y="428625"/>
            <a:ext cx="84296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>
              <a:lnSpc>
                <a:spcPct val="90000"/>
              </a:lnSpc>
              <a:defRPr/>
            </a:pPr>
            <a:r>
              <a:rPr lang="fr-FR" sz="36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III. Les étapes de la veille (suite)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50" y="2357438"/>
            <a:ext cx="1800225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Espace réservé du contenu 2">
            <a:extLst>
              <a:ext uri="{FF2B5EF4-FFF2-40B4-BE49-F238E27FC236}"/>
            </a:extLst>
          </p:cNvPr>
          <p:cNvSpPr txBox="1">
            <a:spLocks/>
          </p:cNvSpPr>
          <p:nvPr/>
        </p:nvSpPr>
        <p:spPr bwMode="auto">
          <a:xfrm>
            <a:off x="2214563" y="2500313"/>
            <a:ext cx="6643687" cy="235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 eaLnBrk="1" hangingPunct="1">
              <a:spcBef>
                <a:spcPts val="3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/>
            </a:pPr>
            <a:r>
              <a:rPr lang="fr-FR" sz="3600" dirty="0">
                <a:latin typeface="+mn-lt"/>
                <a:cs typeface="Times New Roman" pitchFamily="18" charset="0"/>
              </a:rPr>
              <a:t> Définir les axes de surveillance et les finalités</a:t>
            </a:r>
          </a:p>
          <a:p>
            <a:pPr marL="742950" lvl="1" indent="-285750" eaLnBrk="1" hangingPunct="1">
              <a:spcBef>
                <a:spcPts val="3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/>
            </a:pPr>
            <a:r>
              <a:rPr lang="fr-FR" sz="3600" dirty="0">
                <a:latin typeface="+mn-lt"/>
                <a:cs typeface="Times New Roman" pitchFamily="18" charset="0"/>
              </a:rPr>
              <a:t> Utiliser la </a:t>
            </a:r>
            <a:r>
              <a:rPr lang="fr-FR" sz="3600">
                <a:latin typeface="+mn-lt"/>
                <a:cs typeface="Times New Roman" pitchFamily="18" charset="0"/>
              </a:rPr>
              <a:t>méthode QQOQCP</a:t>
            </a:r>
            <a:r>
              <a:rPr lang="fr-FR" sz="3600" dirty="0">
                <a:latin typeface="+mn-lt"/>
                <a:cs typeface="Times New Roman" pitchFamily="18" charset="0"/>
              </a:rPr>
              <a:t> </a:t>
            </a:r>
          </a:p>
        </p:txBody>
      </p:sp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4429125"/>
            <a:ext cx="2357438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813" y="2357438"/>
            <a:ext cx="1382712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3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71688" y="2428875"/>
            <a:ext cx="6870700" cy="38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re 1">
            <a:extLst>
              <a:ext uri="{FF2B5EF4-FFF2-40B4-BE49-F238E27FC236}"/>
            </a:extLst>
          </p:cNvPr>
          <p:cNvSpPr txBox="1">
            <a:spLocks/>
          </p:cNvSpPr>
          <p:nvPr/>
        </p:nvSpPr>
        <p:spPr bwMode="auto">
          <a:xfrm>
            <a:off x="714375" y="428625"/>
            <a:ext cx="84296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>
              <a:lnSpc>
                <a:spcPct val="90000"/>
              </a:lnSpc>
              <a:defRPr/>
            </a:pPr>
            <a:r>
              <a:rPr lang="fr-FR" sz="36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III. Les étapes de la veille (suite)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88" y="2357438"/>
            <a:ext cx="1809750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contenu 2">
            <a:extLst>
              <a:ext uri="{FF2B5EF4-FFF2-40B4-BE49-F238E27FC236}"/>
            </a:extLst>
          </p:cNvPr>
          <p:cNvSpPr txBox="1">
            <a:spLocks/>
          </p:cNvSpPr>
          <p:nvPr/>
        </p:nvSpPr>
        <p:spPr bwMode="auto">
          <a:xfrm>
            <a:off x="2286000" y="2286000"/>
            <a:ext cx="6643688" cy="2357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 eaLnBrk="1" hangingPunct="1">
              <a:spcBef>
                <a:spcPts val="3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/>
            </a:pPr>
            <a:r>
              <a:rPr lang="fr-FR" sz="3600" dirty="0">
                <a:latin typeface="+mn-lt"/>
                <a:cs typeface="Times New Roman" pitchFamily="18" charset="0"/>
              </a:rPr>
              <a:t> </a:t>
            </a:r>
            <a:r>
              <a:rPr lang="fr-FR" sz="3000" dirty="0">
                <a:latin typeface="+mn-lt"/>
                <a:cs typeface="Times New Roman" pitchFamily="18" charset="0"/>
              </a:rPr>
              <a:t>Identifier les ressources : CDI, Bibliothèques, Internet</a:t>
            </a:r>
          </a:p>
          <a:p>
            <a:pPr marL="742950" lvl="1" indent="-285750" eaLnBrk="1" hangingPunct="1">
              <a:spcBef>
                <a:spcPts val="3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/>
            </a:pPr>
            <a:r>
              <a:rPr lang="fr-FR" sz="3000" dirty="0">
                <a:latin typeface="+mn-lt"/>
                <a:cs typeface="Times New Roman" pitchFamily="18" charset="0"/>
              </a:rPr>
              <a:t> Choisir les types de sources : Papier, multimédias, sites web, blogs, réseaux sociaux, bases de données</a:t>
            </a:r>
          </a:p>
          <a:p>
            <a:pPr marL="742950" lvl="1" indent="-285750" eaLnBrk="1" hangingPunct="1">
              <a:spcBef>
                <a:spcPts val="3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/>
            </a:pPr>
            <a:r>
              <a:rPr lang="fr-FR" sz="3000" dirty="0">
                <a:latin typeface="+mn-lt"/>
                <a:cs typeface="Times New Roman" pitchFamily="18" charset="0"/>
              </a:rPr>
              <a:t> Recueillir des informations : Définir ses mots-clefs et établir son équation de recherche.</a:t>
            </a:r>
          </a:p>
        </p:txBody>
      </p:sp>
      <p:sp>
        <p:nvSpPr>
          <p:cNvPr id="7" name="Titre 1">
            <a:extLst>
              <a:ext uri="{FF2B5EF4-FFF2-40B4-BE49-F238E27FC236}"/>
            </a:extLst>
          </p:cNvPr>
          <p:cNvSpPr txBox="1">
            <a:spLocks/>
          </p:cNvSpPr>
          <p:nvPr/>
        </p:nvSpPr>
        <p:spPr bwMode="auto">
          <a:xfrm>
            <a:off x="714375" y="428625"/>
            <a:ext cx="84296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>
              <a:lnSpc>
                <a:spcPct val="90000"/>
              </a:lnSpc>
              <a:defRPr/>
            </a:pPr>
            <a:r>
              <a:rPr lang="fr-FR" sz="36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III. Les étapes de la veille (suite)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900" y="2320925"/>
            <a:ext cx="1706563" cy="167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contenu 2">
            <a:extLst>
              <a:ext uri="{FF2B5EF4-FFF2-40B4-BE49-F238E27FC236}"/>
            </a:extLst>
          </p:cNvPr>
          <p:cNvSpPr txBox="1">
            <a:spLocks/>
          </p:cNvSpPr>
          <p:nvPr/>
        </p:nvSpPr>
        <p:spPr bwMode="auto">
          <a:xfrm>
            <a:off x="2209800" y="2409825"/>
            <a:ext cx="6643688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 eaLnBrk="1" hangingPunct="1">
              <a:spcBef>
                <a:spcPts val="3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/>
            </a:pPr>
            <a:r>
              <a:rPr lang="fr-FR" sz="3600" dirty="0">
                <a:latin typeface="+mn-lt"/>
                <a:cs typeface="Times New Roman" pitchFamily="18" charset="0"/>
              </a:rPr>
              <a:t> Utilisation d’outils pour récolter les informations </a:t>
            </a:r>
          </a:p>
        </p:txBody>
      </p:sp>
      <p:sp>
        <p:nvSpPr>
          <p:cNvPr id="7" name="Rectangle 3">
            <a:extLst>
              <a:ext uri="{FF2B5EF4-FFF2-40B4-BE49-F238E27FC236}"/>
            </a:extLst>
          </p:cNvPr>
          <p:cNvSpPr txBox="1">
            <a:spLocks noChangeArrowheads="1"/>
          </p:cNvSpPr>
          <p:nvPr/>
        </p:nvSpPr>
        <p:spPr bwMode="auto">
          <a:xfrm>
            <a:off x="0" y="3784600"/>
            <a:ext cx="9144000" cy="293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39763" lvl="1" indent="-236538" algn="just" eaLnBrk="1" hangingPunct="1">
              <a:lnSpc>
                <a:spcPct val="0"/>
              </a:lnSpc>
              <a:buClr>
                <a:schemeClr val="tx1"/>
              </a:buClr>
              <a:buSzPct val="75000"/>
              <a:defRPr/>
            </a:pPr>
            <a:r>
              <a:rPr lang="fr-FR" sz="3200" kern="0" dirty="0">
                <a:latin typeface="+mn-lt"/>
              </a:rPr>
              <a:t>	</a:t>
            </a:r>
            <a:endParaRPr lang="fr-FR" sz="100" kern="0" dirty="0"/>
          </a:p>
          <a:p>
            <a:pPr marL="639763" lvl="1" indent="-236538" algn="just" eaLnBrk="1" hangingPunct="1">
              <a:lnSpc>
                <a:spcPct val="0"/>
              </a:lnSpc>
              <a:buClr>
                <a:schemeClr val="tx1"/>
              </a:buClr>
              <a:buSzPct val="75000"/>
              <a:defRPr/>
            </a:pPr>
            <a:r>
              <a:rPr lang="fr-FR" sz="3200" kern="0" dirty="0"/>
              <a:t>	</a:t>
            </a:r>
            <a:endParaRPr lang="fr-FR" sz="3600" kern="0" dirty="0"/>
          </a:p>
          <a:p>
            <a:pPr marL="1143000" lvl="2" indent="-228600">
              <a:spcBef>
                <a:spcPts val="600"/>
              </a:spcBef>
              <a:buClr>
                <a:schemeClr val="tx1"/>
              </a:buClr>
              <a:buSzPct val="75000"/>
              <a:buFont typeface="Arial" charset="0"/>
              <a:buChar char="•"/>
              <a:defRPr/>
            </a:pPr>
            <a:r>
              <a:rPr lang="fr-FR" sz="3200" kern="0" dirty="0">
                <a:solidFill>
                  <a:srgbClr val="0070C0"/>
                </a:solidFill>
                <a:latin typeface="+mn-lt"/>
                <a:cs typeface="Times New Roman" pitchFamily="18" charset="0"/>
              </a:rPr>
              <a:t>Moteurs de recherche </a:t>
            </a:r>
          </a:p>
          <a:p>
            <a:pPr marL="1143000" lvl="2" indent="-228600">
              <a:spcBef>
                <a:spcPts val="600"/>
              </a:spcBef>
              <a:buClr>
                <a:schemeClr val="tx1"/>
              </a:buClr>
              <a:buSzPct val="75000"/>
              <a:buFont typeface="Arial" charset="0"/>
              <a:buChar char="•"/>
              <a:defRPr/>
            </a:pPr>
            <a:r>
              <a:rPr lang="fr-FR" sz="3200" kern="0" dirty="0">
                <a:solidFill>
                  <a:srgbClr val="0070C0"/>
                </a:solidFill>
                <a:latin typeface="+mn-lt"/>
                <a:cs typeface="Times New Roman" pitchFamily="18" charset="0"/>
              </a:rPr>
              <a:t>Moteurs de flux RSS	 </a:t>
            </a:r>
          </a:p>
          <a:p>
            <a:pPr marL="1143000" lvl="2" indent="-228600">
              <a:spcBef>
                <a:spcPts val="600"/>
              </a:spcBef>
              <a:buClr>
                <a:schemeClr val="tx1"/>
              </a:buClr>
              <a:buSzPct val="75000"/>
              <a:buFont typeface="Arial" charset="0"/>
              <a:buChar char="•"/>
              <a:defRPr/>
            </a:pPr>
            <a:r>
              <a:rPr lang="fr-FR" sz="3200" kern="0" dirty="0">
                <a:solidFill>
                  <a:srgbClr val="0070C0"/>
                </a:solidFill>
                <a:latin typeface="+mn-lt"/>
                <a:cs typeface="Times New Roman" pitchFamily="18" charset="0"/>
              </a:rPr>
              <a:t>Moteurs d'actualités	 </a:t>
            </a:r>
          </a:p>
          <a:p>
            <a:pPr marL="1143000" lvl="2" indent="-228600">
              <a:spcBef>
                <a:spcPts val="600"/>
              </a:spcBef>
              <a:buClr>
                <a:schemeClr val="tx1"/>
              </a:buClr>
              <a:buSzPct val="75000"/>
              <a:buFont typeface="Arial" charset="0"/>
              <a:buChar char="•"/>
              <a:defRPr/>
            </a:pPr>
            <a:r>
              <a:rPr lang="fr-FR" sz="3200" kern="0" dirty="0">
                <a:solidFill>
                  <a:srgbClr val="0070C0"/>
                </a:solidFill>
                <a:latin typeface="+mn-lt"/>
                <a:cs typeface="Times New Roman" pitchFamily="18" charset="0"/>
              </a:rPr>
              <a:t>Moteurs de blogs</a:t>
            </a:r>
          </a:p>
          <a:p>
            <a:pPr marL="1143000" lvl="2" indent="-228600">
              <a:spcBef>
                <a:spcPts val="600"/>
              </a:spcBef>
              <a:buClr>
                <a:schemeClr val="tx1"/>
              </a:buClr>
              <a:buSzPct val="75000"/>
              <a:buFont typeface="Arial" charset="0"/>
              <a:buChar char="•"/>
              <a:defRPr/>
            </a:pPr>
            <a:r>
              <a:rPr lang="fr-FR" sz="3200" kern="0" dirty="0">
                <a:solidFill>
                  <a:srgbClr val="0070C0"/>
                </a:solidFill>
                <a:latin typeface="+mn-lt"/>
                <a:cs typeface="Times New Roman" pitchFamily="18" charset="0"/>
              </a:rPr>
              <a:t>Réseaux sociaux</a:t>
            </a:r>
            <a:r>
              <a:rPr lang="fr-FR" sz="3600" kern="0" dirty="0">
                <a:latin typeface="+mn-lt"/>
                <a:cs typeface="Times New Roman" pitchFamily="18" charset="0"/>
              </a:rPr>
              <a:t>	</a:t>
            </a:r>
          </a:p>
        </p:txBody>
      </p:sp>
      <p:pic>
        <p:nvPicPr>
          <p:cNvPr id="174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18188" y="3952875"/>
            <a:ext cx="1246187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94600" y="3860800"/>
            <a:ext cx="1209675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5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22938" y="4494213"/>
            <a:ext cx="170497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6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527925" y="4465638"/>
            <a:ext cx="15144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7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521325" y="4846638"/>
            <a:ext cx="124777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8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272338" y="5010150"/>
            <a:ext cx="1566862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9" name="Picture 8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977063" y="5675313"/>
            <a:ext cx="1890712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0" name="Picture 9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314950" y="5602288"/>
            <a:ext cx="1328738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1" name="Image 2"/>
          <p:cNvPicPr>
            <a:picLocks noChangeAspect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927850" y="6208713"/>
            <a:ext cx="1978025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2" name="Image 3"/>
          <p:cNvPicPr>
            <a:picLocks noChangeAspect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137150" y="6172200"/>
            <a:ext cx="1552575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itre 1">
            <a:extLst>
              <a:ext uri="{FF2B5EF4-FFF2-40B4-BE49-F238E27FC236}"/>
            </a:extLst>
          </p:cNvPr>
          <p:cNvSpPr txBox="1">
            <a:spLocks/>
          </p:cNvSpPr>
          <p:nvPr/>
        </p:nvSpPr>
        <p:spPr bwMode="auto">
          <a:xfrm>
            <a:off x="714375" y="428625"/>
            <a:ext cx="84296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>
              <a:lnSpc>
                <a:spcPct val="90000"/>
              </a:lnSpc>
              <a:defRPr/>
            </a:pPr>
            <a:r>
              <a:rPr lang="fr-FR" sz="36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III. Les étapes de la veille (suite)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50" y="2500313"/>
            <a:ext cx="1943100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contenu 2">
            <a:extLst>
              <a:ext uri="{FF2B5EF4-FFF2-40B4-BE49-F238E27FC236}"/>
            </a:extLst>
          </p:cNvPr>
          <p:cNvSpPr txBox="1">
            <a:spLocks/>
          </p:cNvSpPr>
          <p:nvPr/>
        </p:nvSpPr>
        <p:spPr bwMode="auto">
          <a:xfrm>
            <a:off x="2195513" y="2500313"/>
            <a:ext cx="6840537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 eaLnBrk="1" hangingPunct="1">
              <a:spcBef>
                <a:spcPts val="3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/>
            </a:pPr>
            <a:r>
              <a:rPr lang="fr-FR" sz="3600" dirty="0">
                <a:latin typeface="+mn-lt"/>
                <a:cs typeface="Times New Roman" pitchFamily="18" charset="0"/>
              </a:rPr>
              <a:t> </a:t>
            </a:r>
            <a:r>
              <a:rPr lang="fr-FR" sz="3200" dirty="0">
                <a:solidFill>
                  <a:srgbClr val="00B0F0"/>
                </a:solidFill>
                <a:latin typeface="+mn-lt"/>
                <a:cs typeface="Times New Roman" pitchFamily="18" charset="0"/>
              </a:rPr>
              <a:t>Traiter</a:t>
            </a:r>
            <a:r>
              <a:rPr lang="fr-FR" sz="3200" dirty="0">
                <a:latin typeface="+mn-lt"/>
                <a:cs typeface="Times New Roman" pitchFamily="18" charset="0"/>
              </a:rPr>
              <a:t> : refaire un tri dans les informations et des recoupements.</a:t>
            </a:r>
          </a:p>
          <a:p>
            <a:pPr marL="742950" lvl="1" indent="-285750" eaLnBrk="1" hangingPunct="1">
              <a:spcBef>
                <a:spcPts val="3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/>
            </a:pPr>
            <a:r>
              <a:rPr lang="fr-FR" sz="3200" dirty="0">
                <a:latin typeface="+mn-lt"/>
                <a:cs typeface="Times New Roman" pitchFamily="18" charset="0"/>
              </a:rPr>
              <a:t> </a:t>
            </a:r>
            <a:r>
              <a:rPr lang="fr-FR" sz="3200" dirty="0">
                <a:solidFill>
                  <a:srgbClr val="00B0F0"/>
                </a:solidFill>
                <a:latin typeface="+mn-lt"/>
                <a:cs typeface="Times New Roman" pitchFamily="18" charset="0"/>
              </a:rPr>
              <a:t>Analyser</a:t>
            </a:r>
            <a:r>
              <a:rPr lang="fr-FR" sz="3200" dirty="0">
                <a:latin typeface="+mn-lt"/>
                <a:cs typeface="Times New Roman" pitchFamily="18" charset="0"/>
              </a:rPr>
              <a:t> : travail de synthèse à effectuer.</a:t>
            </a:r>
          </a:p>
          <a:p>
            <a:pPr marL="742950" lvl="1" indent="-285750" eaLnBrk="1" hangingPunct="1">
              <a:spcBef>
                <a:spcPts val="3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/>
            </a:pPr>
            <a:r>
              <a:rPr lang="fr-FR" sz="3200" dirty="0">
                <a:solidFill>
                  <a:srgbClr val="00B0F0"/>
                </a:solidFill>
                <a:latin typeface="+mn-lt"/>
                <a:cs typeface="Times New Roman" pitchFamily="18" charset="0"/>
              </a:rPr>
              <a:t>Stocker</a:t>
            </a:r>
            <a:r>
              <a:rPr lang="fr-FR" sz="3200" dirty="0">
                <a:latin typeface="+mn-lt"/>
                <a:cs typeface="Times New Roman" pitchFamily="18" charset="0"/>
              </a:rPr>
              <a:t> : « document papier » (note, dossier documentaire) ou diffusé sur le web. </a:t>
            </a:r>
          </a:p>
        </p:txBody>
      </p:sp>
      <p:sp>
        <p:nvSpPr>
          <p:cNvPr id="7" name="Titre 1">
            <a:extLst>
              <a:ext uri="{FF2B5EF4-FFF2-40B4-BE49-F238E27FC236}"/>
            </a:extLst>
          </p:cNvPr>
          <p:cNvSpPr txBox="1">
            <a:spLocks/>
          </p:cNvSpPr>
          <p:nvPr/>
        </p:nvSpPr>
        <p:spPr bwMode="auto">
          <a:xfrm>
            <a:off x="714375" y="428625"/>
            <a:ext cx="84296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>
              <a:lnSpc>
                <a:spcPct val="90000"/>
              </a:lnSpc>
              <a:defRPr/>
            </a:pPr>
            <a:r>
              <a:rPr lang="fr-FR" sz="36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III. Les étapes de la veille (suite)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2">
            <a:extLst>
              <a:ext uri="{FF2B5EF4-FFF2-40B4-BE49-F238E27FC236}"/>
            </a:extLst>
          </p:cNvPr>
          <p:cNvSpPr txBox="1">
            <a:spLocks/>
          </p:cNvSpPr>
          <p:nvPr/>
        </p:nvSpPr>
        <p:spPr bwMode="auto">
          <a:xfrm>
            <a:off x="2214563" y="2286000"/>
            <a:ext cx="6786562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 eaLnBrk="1" hangingPunct="1">
              <a:spcBef>
                <a:spcPts val="3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/>
            </a:pPr>
            <a:r>
              <a:rPr lang="fr-FR" sz="3600" dirty="0">
                <a:latin typeface="+mn-lt"/>
                <a:cs typeface="Times New Roman" pitchFamily="18" charset="0"/>
              </a:rPr>
              <a:t> Utilisation d’outils pour traiter les informations </a:t>
            </a:r>
          </a:p>
        </p:txBody>
      </p:sp>
      <p:sp>
        <p:nvSpPr>
          <p:cNvPr id="7" name="Rectangle 3">
            <a:extLst>
              <a:ext uri="{FF2B5EF4-FFF2-40B4-BE49-F238E27FC236}"/>
            </a:extLst>
          </p:cNvPr>
          <p:cNvSpPr txBox="1">
            <a:spLocks noChangeArrowheads="1"/>
          </p:cNvSpPr>
          <p:nvPr/>
        </p:nvSpPr>
        <p:spPr bwMode="auto">
          <a:xfrm>
            <a:off x="-142875" y="3643313"/>
            <a:ext cx="9286875" cy="307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39763" lvl="1" indent="-236538" algn="just" eaLnBrk="1" hangingPunct="1">
              <a:lnSpc>
                <a:spcPct val="0"/>
              </a:lnSpc>
              <a:buClr>
                <a:schemeClr val="tx1"/>
              </a:buClr>
              <a:buSzPct val="75000"/>
              <a:defRPr/>
            </a:pPr>
            <a:r>
              <a:rPr lang="fr-FR" sz="3200" kern="0" dirty="0">
                <a:latin typeface="+mn-lt"/>
              </a:rPr>
              <a:t>	</a:t>
            </a:r>
            <a:endParaRPr lang="fr-FR" sz="100" kern="0" dirty="0"/>
          </a:p>
          <a:p>
            <a:pPr marL="639763" lvl="1" indent="-236538" algn="just" eaLnBrk="1" hangingPunct="1">
              <a:lnSpc>
                <a:spcPct val="0"/>
              </a:lnSpc>
              <a:buClr>
                <a:schemeClr val="tx1"/>
              </a:buClr>
              <a:buSzPct val="75000"/>
              <a:defRPr/>
            </a:pPr>
            <a:r>
              <a:rPr lang="fr-FR" sz="3200" kern="0" dirty="0"/>
              <a:t>	</a:t>
            </a:r>
            <a:endParaRPr lang="fr-FR" sz="3600" kern="0" dirty="0"/>
          </a:p>
          <a:p>
            <a:pPr marL="1143000" lvl="2" indent="-228600">
              <a:spcBef>
                <a:spcPct val="20000"/>
              </a:spcBef>
              <a:buClr>
                <a:schemeClr val="tx1"/>
              </a:buClr>
              <a:buSzPct val="75000"/>
              <a:buFont typeface="Arial" charset="0"/>
              <a:buChar char="•"/>
              <a:defRPr/>
            </a:pPr>
            <a:r>
              <a:rPr lang="fr-FR" sz="3200" kern="0" dirty="0">
                <a:solidFill>
                  <a:srgbClr val="0070C0"/>
                </a:solidFill>
                <a:latin typeface="+mn-lt"/>
                <a:cs typeface="Times New Roman" pitchFamily="18" charset="0"/>
              </a:rPr>
              <a:t>Outils d'annotation	</a:t>
            </a:r>
          </a:p>
          <a:p>
            <a:pPr marL="1143000" lvl="2" indent="-228600">
              <a:spcBef>
                <a:spcPts val="1200"/>
              </a:spcBef>
              <a:buClr>
                <a:schemeClr val="tx1"/>
              </a:buClr>
              <a:buSzPct val="75000"/>
              <a:buFont typeface="Arial" charset="0"/>
              <a:buChar char="•"/>
              <a:defRPr/>
            </a:pPr>
            <a:r>
              <a:rPr lang="fr-FR" sz="3200" kern="0" dirty="0">
                <a:solidFill>
                  <a:srgbClr val="0070C0"/>
                </a:solidFill>
                <a:latin typeface="+mn-lt"/>
                <a:cs typeface="Times New Roman" pitchFamily="18" charset="0"/>
              </a:rPr>
              <a:t>Outils de cartographie	</a:t>
            </a:r>
          </a:p>
          <a:p>
            <a:pPr marL="1143000" lvl="2" indent="-228600">
              <a:spcBef>
                <a:spcPts val="1200"/>
              </a:spcBef>
              <a:buClr>
                <a:schemeClr val="tx1"/>
              </a:buClr>
              <a:buSzPct val="75000"/>
              <a:buFont typeface="Arial" charset="0"/>
              <a:buChar char="•"/>
              <a:defRPr/>
            </a:pPr>
            <a:r>
              <a:rPr lang="fr-FR" sz="3200" kern="0" dirty="0">
                <a:solidFill>
                  <a:srgbClr val="0070C0"/>
                </a:solidFill>
                <a:latin typeface="+mn-lt"/>
                <a:cs typeface="Times New Roman" pitchFamily="18" charset="0"/>
              </a:rPr>
              <a:t>Outils de capture de pages web </a:t>
            </a:r>
          </a:p>
          <a:p>
            <a:pPr marL="1143000" lvl="2" indent="-228600">
              <a:spcBef>
                <a:spcPts val="1200"/>
              </a:spcBef>
              <a:buClr>
                <a:schemeClr val="tx1"/>
              </a:buClr>
              <a:buSzPct val="75000"/>
              <a:buFont typeface="Arial" charset="0"/>
              <a:buChar char="•"/>
              <a:defRPr/>
            </a:pPr>
            <a:r>
              <a:rPr lang="fr-FR" sz="3200" kern="0" dirty="0">
                <a:solidFill>
                  <a:srgbClr val="0070C0"/>
                </a:solidFill>
                <a:latin typeface="+mn-lt"/>
                <a:cs typeface="Times New Roman" pitchFamily="18" charset="0"/>
              </a:rPr>
              <a:t>Outils de capitalisation des </a:t>
            </a:r>
            <a:br>
              <a:rPr lang="fr-FR" sz="3200" kern="0" dirty="0">
                <a:solidFill>
                  <a:srgbClr val="0070C0"/>
                </a:solidFill>
                <a:latin typeface="+mn-lt"/>
                <a:cs typeface="Times New Roman" pitchFamily="18" charset="0"/>
              </a:rPr>
            </a:br>
            <a:r>
              <a:rPr lang="fr-FR" sz="3200" kern="0" dirty="0">
                <a:solidFill>
                  <a:srgbClr val="0070C0"/>
                </a:solidFill>
                <a:latin typeface="+mn-lt"/>
                <a:cs typeface="Times New Roman" pitchFamily="18" charset="0"/>
              </a:rPr>
              <a:t>connaissances</a:t>
            </a:r>
            <a:r>
              <a:rPr lang="fr-FR" sz="3600" kern="0" dirty="0">
                <a:solidFill>
                  <a:srgbClr val="0070C0"/>
                </a:solidFill>
                <a:latin typeface="+mn-lt"/>
                <a:cs typeface="Times New Roman" pitchFamily="18" charset="0"/>
              </a:rPr>
              <a:t>	</a:t>
            </a:r>
          </a:p>
        </p:txBody>
      </p:sp>
      <p:pic>
        <p:nvPicPr>
          <p:cNvPr id="1946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63" y="2357438"/>
            <a:ext cx="1543050" cy="137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14938" y="3857625"/>
            <a:ext cx="19145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29500" y="3786188"/>
            <a:ext cx="14859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72313" y="4429125"/>
            <a:ext cx="1214437" cy="452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643563" y="4357688"/>
            <a:ext cx="700087" cy="776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5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858000" y="5151438"/>
            <a:ext cx="857250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6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500938" y="5643563"/>
            <a:ext cx="1500187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7" name="Picture 8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929313" y="6086475"/>
            <a:ext cx="8382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itre 1">
            <a:extLst>
              <a:ext uri="{FF2B5EF4-FFF2-40B4-BE49-F238E27FC236}"/>
            </a:extLst>
          </p:cNvPr>
          <p:cNvSpPr txBox="1">
            <a:spLocks/>
          </p:cNvSpPr>
          <p:nvPr/>
        </p:nvSpPr>
        <p:spPr bwMode="auto">
          <a:xfrm>
            <a:off x="714375" y="428625"/>
            <a:ext cx="84296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>
              <a:lnSpc>
                <a:spcPct val="90000"/>
              </a:lnSpc>
              <a:defRPr/>
            </a:pPr>
            <a:r>
              <a:rPr lang="fr-FR" sz="36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III. Les étapes de la veille (suite)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50" y="2428875"/>
            <a:ext cx="179070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contenu 2">
            <a:extLst>
              <a:ext uri="{FF2B5EF4-FFF2-40B4-BE49-F238E27FC236}"/>
            </a:extLst>
          </p:cNvPr>
          <p:cNvSpPr txBox="1">
            <a:spLocks/>
          </p:cNvSpPr>
          <p:nvPr/>
        </p:nvSpPr>
        <p:spPr bwMode="auto">
          <a:xfrm>
            <a:off x="2286000" y="2286000"/>
            <a:ext cx="6643688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 eaLnBrk="1" hangingPunct="1">
              <a:spcBef>
                <a:spcPts val="3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/>
            </a:pPr>
            <a:r>
              <a:rPr lang="fr-FR" sz="3600" dirty="0">
                <a:latin typeface="+mn-lt"/>
                <a:cs typeface="Times New Roman" pitchFamily="18" charset="0"/>
              </a:rPr>
              <a:t> </a:t>
            </a:r>
            <a:r>
              <a:rPr lang="fr-FR" sz="3400" dirty="0">
                <a:latin typeface="+mn-lt"/>
                <a:cs typeface="Times New Roman" pitchFamily="18" charset="0"/>
              </a:rPr>
              <a:t>Modalités de diffusion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/>
            </a:pPr>
            <a:r>
              <a:rPr lang="fr-FR" sz="3400" dirty="0">
                <a:latin typeface="+mn-lt"/>
                <a:cs typeface="Times New Roman" pitchFamily="18" charset="0"/>
              </a:rPr>
              <a:t> Utilisation d’outils pour diffuser les informations </a:t>
            </a:r>
            <a:r>
              <a:rPr lang="fr-FR" sz="3600" dirty="0">
                <a:latin typeface="+mn-lt"/>
                <a:cs typeface="Times New Roman" pitchFamily="18" charset="0"/>
              </a:rPr>
              <a:t> </a:t>
            </a:r>
          </a:p>
        </p:txBody>
      </p:sp>
      <p:sp>
        <p:nvSpPr>
          <p:cNvPr id="7" name="Rectangle 3">
            <a:extLst>
              <a:ext uri="{FF2B5EF4-FFF2-40B4-BE49-F238E27FC236}"/>
            </a:extLst>
          </p:cNvPr>
          <p:cNvSpPr txBox="1">
            <a:spLocks noChangeArrowheads="1"/>
          </p:cNvSpPr>
          <p:nvPr/>
        </p:nvSpPr>
        <p:spPr bwMode="auto">
          <a:xfrm>
            <a:off x="0" y="4000500"/>
            <a:ext cx="9144000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39763" lvl="1" indent="-236538" algn="just" eaLnBrk="1" hangingPunct="1">
              <a:lnSpc>
                <a:spcPct val="0"/>
              </a:lnSpc>
              <a:buClr>
                <a:schemeClr val="tx1"/>
              </a:buClr>
              <a:buSzPct val="75000"/>
              <a:defRPr/>
            </a:pPr>
            <a:r>
              <a:rPr lang="fr-FR" sz="3200" kern="0" dirty="0">
                <a:latin typeface="+mn-lt"/>
              </a:rPr>
              <a:t>	</a:t>
            </a:r>
            <a:endParaRPr lang="fr-FR" sz="100" kern="0" dirty="0"/>
          </a:p>
          <a:p>
            <a:pPr marL="639763" lvl="1" indent="-236538" algn="just" eaLnBrk="1" hangingPunct="1">
              <a:lnSpc>
                <a:spcPct val="0"/>
              </a:lnSpc>
              <a:buClr>
                <a:schemeClr val="tx1"/>
              </a:buClr>
              <a:buSzPct val="75000"/>
              <a:defRPr/>
            </a:pPr>
            <a:r>
              <a:rPr lang="fr-FR" sz="3200" kern="0" dirty="0"/>
              <a:t>	</a:t>
            </a:r>
            <a:endParaRPr lang="fr-FR" sz="3600" kern="0" dirty="0"/>
          </a:p>
          <a:p>
            <a:pPr marL="1143000" lvl="2" indent="-228600">
              <a:spcBef>
                <a:spcPct val="20000"/>
              </a:spcBef>
              <a:buClr>
                <a:schemeClr val="tx1"/>
              </a:buClr>
              <a:buSzPct val="75000"/>
              <a:buFont typeface="Arial" charset="0"/>
              <a:buChar char="•"/>
              <a:defRPr/>
            </a:pPr>
            <a:r>
              <a:rPr lang="fr-FR" sz="3600" kern="0" dirty="0">
                <a:solidFill>
                  <a:srgbClr val="0070C0"/>
                </a:solidFill>
                <a:latin typeface="+mn-lt"/>
                <a:cs typeface="Times New Roman" pitchFamily="18" charset="0"/>
              </a:rPr>
              <a:t>Outils de </a:t>
            </a:r>
            <a:r>
              <a:rPr lang="fr-FR" sz="3600" kern="0" dirty="0" err="1">
                <a:solidFill>
                  <a:srgbClr val="0070C0"/>
                </a:solidFill>
                <a:latin typeface="+mn-lt"/>
                <a:cs typeface="Times New Roman" pitchFamily="18" charset="0"/>
              </a:rPr>
              <a:t>bookmarking</a:t>
            </a:r>
            <a:endParaRPr lang="fr-FR" sz="3600" kern="0" dirty="0">
              <a:solidFill>
                <a:srgbClr val="0070C0"/>
              </a:solidFill>
              <a:latin typeface="+mn-lt"/>
              <a:cs typeface="Times New Roman" pitchFamily="18" charset="0"/>
            </a:endParaRPr>
          </a:p>
          <a:p>
            <a:pPr marL="1143000" lvl="2" indent="-228600">
              <a:spcBef>
                <a:spcPts val="1400"/>
              </a:spcBef>
              <a:buClr>
                <a:schemeClr val="tx1"/>
              </a:buClr>
              <a:buSzPct val="75000"/>
              <a:buFont typeface="Arial" charset="0"/>
              <a:buChar char="•"/>
              <a:defRPr/>
            </a:pPr>
            <a:r>
              <a:rPr lang="fr-FR" sz="3600" kern="0" dirty="0">
                <a:solidFill>
                  <a:srgbClr val="0070C0"/>
                </a:solidFill>
                <a:latin typeface="+mn-lt"/>
                <a:cs typeface="Times New Roman" pitchFamily="18" charset="0"/>
              </a:rPr>
              <a:t>Plateforme de blogs</a:t>
            </a:r>
          </a:p>
          <a:p>
            <a:pPr marL="1143000" lvl="2" indent="-228600">
              <a:spcBef>
                <a:spcPts val="1400"/>
              </a:spcBef>
              <a:buClr>
                <a:schemeClr val="tx1"/>
              </a:buClr>
              <a:buSzPct val="75000"/>
              <a:buFont typeface="Arial" charset="0"/>
              <a:buChar char="•"/>
              <a:defRPr/>
            </a:pPr>
            <a:r>
              <a:rPr lang="fr-FR" sz="3600" kern="0" dirty="0" err="1">
                <a:solidFill>
                  <a:srgbClr val="0070C0"/>
                </a:solidFill>
                <a:latin typeface="+mn-lt"/>
                <a:cs typeface="Times New Roman" pitchFamily="18" charset="0"/>
              </a:rPr>
              <a:t>Agrégateur</a:t>
            </a:r>
            <a:r>
              <a:rPr lang="fr-FR" sz="3600" kern="0" dirty="0">
                <a:solidFill>
                  <a:srgbClr val="0070C0"/>
                </a:solidFill>
                <a:latin typeface="+mn-lt"/>
                <a:cs typeface="Times New Roman" pitchFamily="18" charset="0"/>
              </a:rPr>
              <a:t> de flux	</a:t>
            </a:r>
          </a:p>
        </p:txBody>
      </p:sp>
      <p:pic>
        <p:nvPicPr>
          <p:cNvPr id="2048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15188" y="4286250"/>
            <a:ext cx="1793875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6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29313" y="4210050"/>
            <a:ext cx="1285875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7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29250" y="4786313"/>
            <a:ext cx="928688" cy="89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8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072063" y="5786438"/>
            <a:ext cx="2014537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9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286625" y="5786438"/>
            <a:ext cx="1538288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itre 1">
            <a:extLst>
              <a:ext uri="{FF2B5EF4-FFF2-40B4-BE49-F238E27FC236}"/>
            </a:extLst>
          </p:cNvPr>
          <p:cNvSpPr txBox="1">
            <a:spLocks/>
          </p:cNvSpPr>
          <p:nvPr/>
        </p:nvSpPr>
        <p:spPr bwMode="auto">
          <a:xfrm>
            <a:off x="714375" y="428625"/>
            <a:ext cx="84296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>
              <a:lnSpc>
                <a:spcPct val="90000"/>
              </a:lnSpc>
              <a:defRPr/>
            </a:pPr>
            <a:r>
              <a:rPr lang="fr-FR" sz="36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III. Les étapes de la veille (suite)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899592" y="2996952"/>
            <a:ext cx="7858125" cy="1908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ts val="1200"/>
              </a:spcBef>
            </a:pPr>
            <a:r>
              <a:rPr lang="fr-FR" altLang="fr-FR" sz="3600" dirty="0">
                <a:solidFill>
                  <a:srgbClr val="0070C0"/>
                </a:solidFill>
              </a:rPr>
              <a:t>TD n</a:t>
            </a:r>
            <a:r>
              <a:rPr lang="fr-FR" altLang="fr-FR" sz="3600">
                <a:solidFill>
                  <a:srgbClr val="0070C0"/>
                </a:solidFill>
              </a:rPr>
              <a:t>° </a:t>
            </a:r>
            <a:r>
              <a:rPr lang="fr-FR" altLang="fr-FR" sz="3600" smtClean="0">
                <a:solidFill>
                  <a:srgbClr val="0070C0"/>
                </a:solidFill>
              </a:rPr>
              <a:t>3 </a:t>
            </a:r>
            <a:r>
              <a:rPr lang="fr-FR" altLang="fr-FR" sz="3600" dirty="0" smtClean="0">
                <a:solidFill>
                  <a:srgbClr val="0070C0"/>
                </a:solidFill>
              </a:rPr>
              <a:t>– La veille informationnelle</a:t>
            </a:r>
          </a:p>
          <a:p>
            <a:pPr algn="ctr" eaLnBrk="1" hangingPunct="1">
              <a:spcBef>
                <a:spcPts val="1200"/>
              </a:spcBef>
            </a:pPr>
            <a:r>
              <a:rPr lang="fr-FR" altLang="fr-FR" sz="3600" dirty="0" smtClean="0">
                <a:solidFill>
                  <a:srgbClr val="0070C0"/>
                </a:solidFill>
              </a:rPr>
              <a:t>cas « La Trotteuse »</a:t>
            </a:r>
            <a:endParaRPr lang="fr-FR" altLang="fr-FR" sz="3600" dirty="0">
              <a:solidFill>
                <a:srgbClr val="0070C0"/>
              </a:solidFill>
            </a:endParaRPr>
          </a:p>
          <a:p>
            <a:pPr eaLnBrk="1" hangingPunct="1"/>
            <a:endParaRPr lang="fr-FR" altLang="fr-FR" sz="3600" dirty="0">
              <a:solidFill>
                <a:srgbClr val="0070C0"/>
              </a:solidFill>
            </a:endParaRPr>
          </a:p>
        </p:txBody>
      </p:sp>
      <p:pic>
        <p:nvPicPr>
          <p:cNvPr id="4" name="Imag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95936" y="4653136"/>
            <a:ext cx="1158240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psules">
  <a:themeElements>
    <a:clrScheme name="Capsules 2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6"/>
      </a:accent4>
      <a:accent5>
        <a:srgbClr val="CAE2CA"/>
      </a:accent5>
      <a:accent6>
        <a:srgbClr val="2DB9B9"/>
      </a:accent6>
      <a:hlink>
        <a:srgbClr val="666699"/>
      </a:hlink>
      <a:folHlink>
        <a:srgbClr val="CC99FF"/>
      </a:folHlink>
    </a:clrScheme>
    <a:fontScheme name="Capsul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Capsules 1">
        <a:dk1>
          <a:srgbClr val="000066"/>
        </a:dk1>
        <a:lt1>
          <a:srgbClr val="FFFFEB"/>
        </a:lt1>
        <a:dk2>
          <a:srgbClr val="336699"/>
        </a:dk2>
        <a:lt2>
          <a:srgbClr val="FFFFEB"/>
        </a:lt2>
        <a:accent1>
          <a:srgbClr val="666699"/>
        </a:accent1>
        <a:accent2>
          <a:srgbClr val="99CCFF"/>
        </a:accent2>
        <a:accent3>
          <a:srgbClr val="ADB8CA"/>
        </a:accent3>
        <a:accent4>
          <a:srgbClr val="DADAC9"/>
        </a:accent4>
        <a:accent5>
          <a:srgbClr val="B8B8CA"/>
        </a:accent5>
        <a:accent6>
          <a:srgbClr val="8AB9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2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6"/>
        </a:accent4>
        <a:accent5>
          <a:srgbClr val="CAE2CA"/>
        </a:accent5>
        <a:accent6>
          <a:srgbClr val="2DB9B9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B9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Designs\Capsules.pot</Template>
  <TotalTime>740</TotalTime>
  <Words>326</Words>
  <Application>Microsoft Office PowerPoint</Application>
  <PresentationFormat>Affichage à l'écran (4:3)</PresentationFormat>
  <Paragraphs>68</Paragraphs>
  <Slides>19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0" baseType="lpstr">
      <vt:lpstr>Capsules</vt:lpstr>
      <vt:lpstr>Diapositive 1</vt:lpstr>
      <vt:lpstr>Définition de la notion de veille</vt:lpstr>
      <vt:lpstr>Pourquoi faire de la veille ?</vt:lpstr>
      <vt:lpstr>Diapositive 4</vt:lpstr>
      <vt:lpstr>I. Les différents types de veille</vt:lpstr>
      <vt:lpstr>Exemple de veille commerciale</vt:lpstr>
      <vt:lpstr>Exemple de veille commerciale</vt:lpstr>
      <vt:lpstr>Exemple de veille technologique</vt:lpstr>
      <vt:lpstr>II. Les méthodes de veille</vt:lpstr>
      <vt:lpstr>II. Les méthodes de veille (suite)</vt:lpstr>
      <vt:lpstr>III. Les étapes de la veille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– La gestion de projet</dc:title>
  <dc:creator>cfro</dc:creator>
  <cp:lastModifiedBy>cfro</cp:lastModifiedBy>
  <cp:revision>218</cp:revision>
  <dcterms:created xsi:type="dcterms:W3CDTF">2013-09-09T07:47:38Z</dcterms:created>
  <dcterms:modified xsi:type="dcterms:W3CDTF">2023-10-01T08:28:38Z</dcterms:modified>
</cp:coreProperties>
</file>